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384048"/>
            <a:ext cx="11430000" cy="6080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Microsoft YaHei"/>
              </a:rPr>
              <a:t>BlackAgent · 黑灰产情报分析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2763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Microsoft YaHei"/>
              </a:rPr>
              <a:t>本地可复跑：公开内容 → 清洗 → 分类 → 实体 → 证据链 → 人工复核候选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468880"/>
            <a:ext cx="3291840" cy="8686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Microsoft YaHei"/>
              </a:rPr>
              <a:t>真实数据跑通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468880"/>
            <a:ext cx="3291840" cy="86868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700" b="1">
                <a:solidFill>
                  <a:srgbClr val="16A34A"/>
                </a:solidFill>
                <a:latin typeface="Microsoft YaHei"/>
              </a:rPr>
              <a:t>证据链可追溯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468880"/>
            <a:ext cx="3291840" cy="86868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700" b="1">
                <a:solidFill>
                  <a:srgbClr val="F59E0B"/>
                </a:solidFill>
                <a:latin typeface="Microsoft YaHei"/>
              </a:rPr>
              <a:t>交付边界清楚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4163 raw → 3464 cleaned → 21774 实体 → 500 行证据包 → 4 条精选线索 / 17 条证据卡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人工 held-out 193 条：一级 F1 0.8662·实体 F1 0.9484·误报率 0.0504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983480"/>
            <a:ext cx="10332720" cy="8686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Microsoft YaHei"/>
              </a:rPr>
              <a:t>边界：系统输出人工复核候选，不自动定性、不自动处置；不覆盖私群、登录后页面、验证码绕过或购买数据。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01 一张图看懂全流程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不确定的样本不直接下结论，而是带完整证据进入人工复核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481328" cy="11887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公开/授权来源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304495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60" b="0">
                <a:solidFill>
                  <a:srgbClr val="64748B"/>
                </a:solidFill>
                <a:latin typeface="Microsoft YaHei"/>
              </a:rPr>
              <a:t>83 来源·多类型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706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6252" y="2331720"/>
            <a:ext cx="1481328" cy="11887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1116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数据采集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1116" y="304495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60" b="0">
                <a:solidFill>
                  <a:srgbClr val="64748B"/>
                </a:solidFill>
                <a:latin typeface="Microsoft YaHei"/>
              </a:rPr>
              <a:t>4163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292" y="27706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2331720"/>
            <a:ext cx="1481328" cy="11887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清洗去重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04495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60" b="0">
                <a:solidFill>
                  <a:srgbClr val="64748B"/>
                </a:solidFill>
                <a:latin typeface="Microsoft YaHei"/>
              </a:rPr>
              <a:t>3464·去重650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7706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4356" y="2331720"/>
            <a:ext cx="1481328" cy="118872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9220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Microsoft YaHei"/>
              </a:rPr>
              <a:t>风险分类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9220" y="304495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60" b="0">
                <a:solidFill>
                  <a:srgbClr val="64748B"/>
                </a:solidFill>
                <a:latin typeface="Microsoft YaHei"/>
              </a:rPr>
              <a:t>F1 0.8662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7396" y="27706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93408" y="2331720"/>
            <a:ext cx="1481328" cy="118872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Microsoft YaHei"/>
              </a:rPr>
              <a:t>实体抽取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04495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60" b="0">
                <a:solidFill>
                  <a:srgbClr val="64748B"/>
                </a:solidFill>
                <a:latin typeface="Microsoft YaHei"/>
              </a:rPr>
              <a:t>21774·F1 0.9484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7706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2460" y="2331720"/>
            <a:ext cx="1481328" cy="118872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7324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Microsoft YaHei"/>
              </a:rPr>
              <a:t>线索+证据链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7324" y="304495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60" b="0">
                <a:solidFill>
                  <a:srgbClr val="64748B"/>
                </a:solidFill>
                <a:latin typeface="Microsoft YaHei"/>
              </a:rPr>
              <a:t>500行·17高质量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0" y="277063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11512" y="2331720"/>
            <a:ext cx="1481328" cy="118872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6376" y="2514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DC2626"/>
                </a:solidFill>
                <a:latin typeface="Microsoft YaHei"/>
              </a:rPr>
              <a:t>人工复核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304495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60" b="0">
                <a:solidFill>
                  <a:srgbClr val="64748B"/>
                </a:solidFill>
                <a:latin typeface="Microsoft YaHei"/>
              </a:rPr>
              <a:t>不自动处置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06240"/>
            <a:ext cx="1106424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250" b="0">
                <a:solidFill>
                  <a:srgbClr val="0F172A"/>
                </a:solidFill>
                <a:latin typeface="Microsoft YaHei"/>
              </a:rPr>
              <a:t>全量来源偏 IM/Telegram 公开目录，不是天然均衡；答辩展示均衡性时用四类来源各 20 行的均衡证据包。</a:t>
            </a:r>
          </a:p>
          <a:p>
            <a:pPr algn="ctr"/>
            <a:r>
              <a:rPr sz="1250" b="0">
                <a:solidFill>
                  <a:srgbClr val="0F172A"/>
                </a:solidFill>
                <a:latin typeface="Microsoft YaHei"/>
              </a:rPr>
              <a:t>分类前置极性判别区分公告/反诈/研究/否定语境；抽取侧统一邀请码、TG、URL、联系方式的归一/哈希/掩码字段。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806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Microsoft YaHei"/>
              </a:rPr>
              <a:t>复查：data/final_acceptance_summary.json · cleaning_phase_summary.json · classification_extraction_phase_summary.json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02 核心数字（都可复查）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每个数字都能在 data/ 下的产物里复查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70048" cy="15087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17904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采集规模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938528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4163 raw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3464 cleaned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70048" cy="15087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517904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Microsoft YaHei"/>
              </a:rPr>
              <a:t>结构化实体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938528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21774 个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URL/联系/邀请码/黑话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2670048" cy="150876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517904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Microsoft YaHei"/>
              </a:rPr>
              <a:t>证据包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1938528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500 行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17 高质量·8 跨源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371600"/>
            <a:ext cx="2670048" cy="150876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517904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Microsoft YaHei"/>
              </a:rPr>
              <a:t>精选真实线索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1938528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4 条 / 17 卡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缺失证据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36391"/>
            <a:ext cx="2670048" cy="150876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282696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Microsoft YaHei"/>
              </a:rPr>
              <a:t>一级分类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703320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0.8662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136391"/>
            <a:ext cx="2670048" cy="150876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3282696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Microsoft YaHei"/>
              </a:rPr>
              <a:t>实体 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3703320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0.9484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36391"/>
            <a:ext cx="2670048" cy="150876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282696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Microsoft YaHei"/>
              </a:rPr>
              <a:t>误报率 FPR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703320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0.0504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3136391"/>
            <a:ext cx="2670048" cy="150876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3282696"/>
            <a:ext cx="2450591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Microsoft YaHei"/>
              </a:rPr>
              <a:t>线索召回 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3703320"/>
            <a:ext cx="2450591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1.0</a:t>
            </a:r>
          </a:p>
          <a:p>
            <a:pPr algn="ctr"/>
            <a:r>
              <a:rPr sz="1500" b="1">
                <a:solidFill>
                  <a:srgbClr val="0F172A"/>
                </a:solidFill>
                <a:latin typeface="Microsoft YaHei"/>
              </a:rPr>
              <a:t>(24 条线索 gold)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11155680" cy="7772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人工 held-out 193 条：一级 F1 0.8662·二级 0.8258·层级 0.7929·实体 F1 0.9484·复核率 0.1865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64748B"/>
                </a:solidFill>
                <a:latin typeface="Microsoft YaHei"/>
              </a:rPr>
              <a:t>复查：data/manual_heldout_eval_current.json · eval_manual_heldout_clue_recall_report.json · collection_phase_multi_source_evidence_pack_report.json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03 四个真实用例总览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都能追到 source URL 和 trace id；详见真实用例速览第 7 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440680" cy="2240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YaHei"/>
              </a:rPr>
              <a:t>① 群控脚本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842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系统判断：工具交易 / 群控脚本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8658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来源：V2EX 公开论坛　|　6 证据 · 质量 0.96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07208"/>
            <a:ext cx="49834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6 帖聚成同一工具风险主题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440680" cy="224028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04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Microsoft YaHei"/>
              </a:rPr>
              <a:t>② 接码平台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842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系统判断：账号交易 / 接码注册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8658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来源：贴吧公开帖　|　3 证据 · 质量 0.9115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07208"/>
            <a:ext cx="49834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Microsoft YaHei"/>
              </a:rPr>
              <a:t>单源工具聚类·需跨源佐证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5440680" cy="224028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1363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Microsoft YaHei"/>
              </a:rPr>
              <a:t>③ 群发/云控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07407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系统判断：众包服务 / 代投服务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974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来源：V2EX + 贴吧　|　4 证据 · 质量 0.96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30368"/>
            <a:ext cx="49834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Microsoft YaHei"/>
              </a:rPr>
              <a:t>跨论坛+社媒·灰区进复核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49039"/>
            <a:ext cx="5440680" cy="224028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1363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Microsoft YaHei"/>
              </a:rPr>
              <a:t>④ 实名号/卖号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07407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系统判断：账号交易 / 实名买卖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0974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来源：贴吧公开帖　|　4 证据 · 质量 0.96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230368"/>
            <a:ext cx="49834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Microsoft YaHei"/>
              </a:rPr>
              <a:t>跨源聚成账号交易主题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04 真实用例 1/4：群控/手机群控/群控脚本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工具交易 · 质量分 0.96 · 6 条证据 · 链路图 + 逐条证据卡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760720" cy="716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c25da0a8 · www.v2ex.com/t/326364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486400" cy="405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求问 群控 核心思路 - V2ex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4www.v2ex.com/t/326364 问与答 -…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801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05584"/>
            <a:ext cx="5760720" cy="716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1303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61e5786e · www.v2ex.com/t/1030655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98192"/>
            <a:ext cx="5486400" cy="405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各位大佬，目前比较好用的群控软件有啥啊 - V2ex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Image 1www.v2ex.com/t/1030655…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051303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76728"/>
            <a:ext cx="5760720" cy="716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224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d1ee31bd · www.v2ex.com/t/370517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9336"/>
            <a:ext cx="5486400" cy="405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有什么手机群控解决方案？ - V2ex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6www.v2ex.com/t/370517…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82244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47872"/>
            <a:ext cx="5760720" cy="716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9359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5e98901f · www.v2ex.com/t/558977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5486400" cy="405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有点好奇，那种群控安卓机的技术是怎么实现的呢 - V2ex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Image 5www.v2ex.com/t/558977…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593591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19015"/>
            <a:ext cx="5760720" cy="716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64735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01c3356e · www.v2ex.com/t/1080223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1624"/>
            <a:ext cx="5486400" cy="405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ios 设备实现群控必须要越狱吗 - V2EX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2www.v2ex.com/t/1080223…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364735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90160"/>
            <a:ext cx="5760720" cy="71628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35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2ce9568d · www.v2ex.com/t/1173091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82768"/>
            <a:ext cx="5486400" cy="405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想做一个去矩阵群控系统 ,想寻大佬解决方案,或者长期工作.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- V2ex Image…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513588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175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0">
                <a:solidFill>
                  <a:srgbClr val="16A34A"/>
                </a:solidFill>
                <a:latin typeface="Microsoft YaHei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240280"/>
            <a:ext cx="4572000" cy="22860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4231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Microsoft YaHei"/>
              </a:rPr>
              <a:t>线索：群控/手机群控/群控脚本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1546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工具交易 · 质量 0.96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118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6 条证据聚成同一主题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每条带 URL·分类·实体·trace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06440"/>
            <a:ext cx="11109960" cy="566928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Microsoft YaHei"/>
              </a:rPr>
              <a:t>复核边界：证据证明主题反复出现，仍需人工区分研究/防御/售卖滥用；不直接定性。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04 真实用例 2/4：实名号/卖号/号商/账号交易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账号交易 · 质量分 0.96 · 4 条证据 · 链路图 + 逐条证据卡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048309c3 · tieba.baidu.com/p/10717820743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实名号能不能买？【三国谋定天下吧】_百度贴吧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5tieba.baidu.com/p/10717820743…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801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75688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b1354e48 · tieba.baidu.com/p/8603954584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第五人格等游戏卖号流程：从选择到售出的详细步骤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7tieba.baidu.com/p/8603954584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214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0.86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16936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30999665 · tieba.baidu.com/p/8710944638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9544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买号需谨慎，避开号商陷阱选官方验号个人账号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7tieba.baidu.com/p/8710944638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6265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DC2626"/>
                </a:solidFill>
                <a:latin typeface="Microsoft YaHei"/>
              </a:rPr>
              <a:t>0.72  ⚑复核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58183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03903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fd250580 · tieba.baidu.com/p/9222545853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0791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揭露号商黑幕：无良操作、克扣款项，简直骗子无疑!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4tieba.baidu.com/p/9222545853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803903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DC2626"/>
                </a:solidFill>
                <a:latin typeface="Microsoft YaHei"/>
              </a:rPr>
              <a:t>0.72  ⚑复核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0">
                <a:solidFill>
                  <a:srgbClr val="16A34A"/>
                </a:solidFill>
                <a:latin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240280"/>
            <a:ext cx="4572000" cy="22860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4231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Microsoft YaHei"/>
              </a:rPr>
              <a:t>线索：实名号/卖号/号商/账号交易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1546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账号交易 · 质量 0.96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118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4 条证据聚成同一主题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每条带 URL·分类·实体·trace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09960" cy="566928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Microsoft YaHei"/>
              </a:rPr>
              <a:t>复核边界：证据证明主题反复出现，仍需人工区分研究/防御/售卖滥用；不直接定性。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04 真实用例 3/4：接码/收码平台/验证码接收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账号交易 · 质量分 0.9115 · 3 条证据 · 链路图 + 逐条证据卡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ebd1766e · tieba.baidu.com/p/10225443169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所有收不到验证码的都看过来，有解决办法~~~【aion吧】_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百度贴吧 Image…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801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75688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ee8fbdf0 · tieba.baidu.com/p/10454286232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Sora2手机号码验证困难？国外接码或可解决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6tieba.baidu.com/p/10454286232…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214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0.86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16936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1a9b8de2 · tieba.baidu.com/p/8543763936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9544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接码平台二次使用显示不在线解决办法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3tieba.baidu.com/p/8543763936…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6265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DC2626"/>
                </a:solidFill>
                <a:latin typeface="Microsoft YaHei"/>
              </a:rPr>
              <a:t>0.86  ⚑复核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0">
                <a:solidFill>
                  <a:srgbClr val="16A34A"/>
                </a:solidFill>
                <a:latin typeface="Microsoft YaHei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240280"/>
            <a:ext cx="4572000" cy="22860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4231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Microsoft YaHei"/>
              </a:rPr>
              <a:t>线索：接码/收码平台/验证码接收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1546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账号交易 · 质量 0.9115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118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3 条证据聚成同一主题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每条带 URL·分类·实体·trace 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806440"/>
            <a:ext cx="11109960" cy="566928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Microsoft YaHei"/>
              </a:rPr>
              <a:t>复核边界：证据证明主题反复出现，仍需人工区分研究/防御/售卖滥用；不直接定性。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04 真实用例 4/4：群发/云控/协议层开发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众包服务 · 质量分 0.96 · 4 条证据 · 链路图 + 逐条证据卡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c4a05c24 · www.v2ex.com/t/1213962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后端开发（Laravel/ PHP ）——textnow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云控系统协议层开发，报酬面谈 - V2EX Image…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2801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DC2626"/>
                </a:solidFill>
                <a:latin typeface="Microsoft YaHei"/>
              </a:rPr>
              <a:t>0.74  ⚑复核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75688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451d79ee · tieba.baidu.com/p/8372231266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68296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欢迎大家使用豪迪群发器_豪迪群发器吧_百度贴吧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8tieba.baidu.com/p/8372231266 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1214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DC2626"/>
                </a:solidFill>
                <a:latin typeface="Microsoft YaHei"/>
              </a:rPr>
              <a:t>0.74  ⚑复核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16936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e1a98f10 · tieba.baidu.com/p/9033134237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9544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星途QQ群发器2024版：快速高效群发解决方案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3tieba.baidu.com/p/9033134237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62656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DC2626"/>
                </a:solidFill>
                <a:latin typeface="Microsoft YaHei"/>
              </a:rPr>
              <a:t>0.74  ⚑复核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58183"/>
            <a:ext cx="5760720" cy="78638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03903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Microsoft YaHei"/>
              </a:rPr>
              <a:t>84a58e79 · tieba.baidu.com/p/9475308545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0791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速邮，一个非常好用而且免费的群发工具，主要是免费 Image</a:t>
            </a:r>
          </a:p>
          <a:p>
            <a:pPr algn="l"/>
            <a:r>
              <a:rPr sz="830" b="0">
                <a:solidFill>
                  <a:srgbClr val="0F172A"/>
                </a:solidFill>
                <a:latin typeface="Microsoft YaHei"/>
              </a:rPr>
              <a:t>2tieba.baidu.com/p/9475308545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803903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Microsoft YaHei"/>
              </a:rPr>
              <a:t>0.94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0">
                <a:solidFill>
                  <a:srgbClr val="16A34A"/>
                </a:solidFill>
                <a:latin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240280"/>
            <a:ext cx="4572000" cy="22860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4231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Microsoft YaHei"/>
              </a:rPr>
              <a:t>线索：群发/云控/协议层开发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1546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</a:rPr>
              <a:t>众包服务 · 质量 0.96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118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4 条证据聚成同一主题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icrosoft YaHei"/>
              </a:rPr>
              <a:t>每条带 URL·分类·实体·trace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11109960" cy="566928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F59E0B"/>
                </a:solidFill>
                <a:latin typeface="Microsoft YaHei"/>
              </a:rPr>
              <a:t>复核边界：证据证明主题反复出现，仍需人工区分研究/防御/售卖滥用；不直接定性。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05 证据链完整性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500 行联合证据包，每行可追溯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证据包行数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146304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66420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带 source URL /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12140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146304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199" y="166420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带分类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199" y="212140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456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46304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66420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带实体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12140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453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040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015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高质量线索行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5876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17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39" y="320040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79" y="34015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跨源线索行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385876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59" y="320040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199" y="34015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带快照 snapshot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85876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354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3200400"/>
            <a:ext cx="2606040" cy="146304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4015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带正文 hydrated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385876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Microsoft YaHei"/>
              </a:rPr>
              <a:t>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12080"/>
            <a:ext cx="11155680" cy="73152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Microsoft YaHei"/>
              </a:rPr>
              <a:t>精选证据索引：4 条高质量线索 / 17 条证据卡 / 缺失证据 0（status=completed）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06 数据规模与分类分布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全量公开/授权语料的清洗与分类结果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9496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清洗 / 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>
                <a:solidFill>
                  <a:srgbClr val="0F172A"/>
                </a:solidFill>
                <a:latin typeface="Microsoft YaHei"/>
              </a:rPr>
              <a:t>输入 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icrosoft YaHei"/>
              </a:rPr>
              <a:t>4163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1518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>
                <a:solidFill>
                  <a:srgbClr val="0F172A"/>
                </a:solidFill>
                <a:latin typeface="Microsoft YaHei"/>
              </a:rPr>
              <a:t>清洗 cleaned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151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icrosoft YaHei"/>
              </a:rPr>
              <a:t>3464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>
                <a:solidFill>
                  <a:srgbClr val="0F172A"/>
                </a:solidFill>
                <a:latin typeface="Microsoft YaHei"/>
              </a:rPr>
              <a:t>丢弃 / 重复丢弃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186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icrosoft YaHei"/>
              </a:rPr>
              <a:t>699 / 650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22191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>
                <a:solidFill>
                  <a:srgbClr val="0F172A"/>
                </a:solidFill>
                <a:latin typeface="Microsoft YaHei"/>
              </a:rPr>
              <a:t>高风险子集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822191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icrosoft YaHei"/>
              </a:rPr>
              <a:t>1095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2569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>
                <a:solidFill>
                  <a:srgbClr val="0F172A"/>
                </a:solidFill>
                <a:latin typeface="Microsoft YaHei"/>
              </a:rPr>
              <a:t>实体总数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42569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icrosoft YaHei"/>
              </a:rPr>
              <a:t>21774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50" b="0">
                <a:solidFill>
                  <a:srgbClr val="0F172A"/>
                </a:solidFill>
                <a:latin typeface="Microsoft YaHei"/>
              </a:rPr>
              <a:t>需人工复核（全量）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0292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Microsoft YaHei"/>
              </a:rPr>
              <a:t>970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325880"/>
            <a:ext cx="5577840" cy="457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463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6A34A"/>
                </a:solidFill>
                <a:latin typeface="Microsoft YaHei"/>
              </a:rPr>
              <a:t>一级分类分布（全量 cleaned）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2029968"/>
            <a:ext cx="2743200" cy="292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75720" y="20116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Microsoft YaHei"/>
              </a:rPr>
              <a:t>1744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578608"/>
            <a:ext cx="806916" cy="292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9436" y="256032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Microsoft YaHei"/>
              </a:rPr>
              <a:t>513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1089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3127248"/>
            <a:ext cx="523787" cy="292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6307" y="310896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Microsoft YaHei"/>
              </a:rPr>
              <a:t>333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6576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8641080" y="3675887"/>
            <a:ext cx="478172" cy="292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0692" y="36576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Microsoft YaHei"/>
              </a:rPr>
              <a:t>304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2062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224527"/>
            <a:ext cx="475026" cy="292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7546" y="42062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Microsoft YaHei"/>
              </a:rPr>
              <a:t>302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7548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8641080" y="4773168"/>
            <a:ext cx="298857" cy="292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1377" y="47548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Microsoft YaHei"/>
              </a:rPr>
              <a:t>190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3035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Microsoft YaHe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5321807"/>
            <a:ext cx="122688" cy="29260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55208" y="530352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Microsoft YaHei"/>
              </a:rPr>
              <a:t>78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白噪声/低相关样本保留用于误报率与 hard negative 评估，不包装成风险样本。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07 效果 / 成本 / 时延平衡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固定预算下优先规则与工程方法，LLM 只用于冲突与高价值复核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1945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Microsoft YaHei"/>
              </a:rPr>
              <a:t>LLM 价值门控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record_enrich_policy = conflict_only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should_enable_record_enrich = false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原因：未测得质量收益却增加成本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→ 简单 query 走规则，复杂/冲突才用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86400" cy="21945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本地规模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样本 1000 / 10000 条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约 1246 条/秒，p95≈0.82ms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该路径 LLM 调用 0 次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Microsoft YaHei"/>
              </a:rPr>
              <a:t>（本地吞吐与路由成本，非真实联网时延）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94760"/>
            <a:ext cx="11155680" cy="96012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250" b="1">
                <a:solidFill>
                  <a:srgbClr val="F59E0B"/>
                </a:solidFill>
                <a:latin typeface="Microsoft YaHei"/>
              </a:rPr>
              <a:t>多模态 OCR hardset：20 条覆盖 chat/poster/qr/screenshot，子串命中 20/20（受控 hardset 与字段流转证明，非生产 OCR 泛化）。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37760"/>
            <a:ext cx="111556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黑话候选发现与灰度生命周期已具备工程能力（probe 报告 input=268/candidate=20，含 1 条人工审核记录）；当前正式报告尚未产出大规模人工确认候选。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08 技术架构与数据流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分层 + 流水线；规则/NLP/LLM 协同，安全与预算贯穿全链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24128"/>
            <a:ext cx="932688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入口层　main.py · run_agent_cli.py · serve_demo_api.py（本机 demo）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591056"/>
            <a:ext cx="932688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application 服务边界　investigation · task · review ·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2157984"/>
            <a:ext cx="932688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LocalAgentRuntime + infra.RuntimeContainer（依赖组装 · 遥测）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3611880" cy="105156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1">
                <a:solidFill>
                  <a:srgbClr val="16A34A"/>
                </a:solidFill>
                <a:latin typeface="Microsoft YaHei"/>
              </a:rPr>
              <a:t>IntelligencePipeline</a:t>
            </a:r>
          </a:p>
          <a:p>
            <a:pPr algn="ctr"/>
            <a:r>
              <a:rPr sz="950" b="1">
                <a:solidFill>
                  <a:srgbClr val="16A34A"/>
                </a:solidFill>
                <a:latin typeface="Microsoft YaHei"/>
              </a:rPr>
              <a:t>Clean→Dedup→Classify→</a:t>
            </a:r>
          </a:p>
          <a:p>
            <a:pPr algn="ctr"/>
            <a:r>
              <a:rPr sz="950" b="1">
                <a:solidFill>
                  <a:srgbClr val="16A34A"/>
                </a:solidFill>
                <a:latin typeface="Microsoft YaHei"/>
              </a:rPr>
              <a:t>Extract→Normalize→</a:t>
            </a:r>
          </a:p>
          <a:p>
            <a:pPr algn="ctr"/>
            <a:r>
              <a:rPr sz="950" b="1">
                <a:solidFill>
                  <a:srgbClr val="16A34A"/>
                </a:solidFill>
                <a:latin typeface="Microsoft YaHei"/>
              </a:rPr>
              <a:t>EntityGraph→CluePromotion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834640"/>
            <a:ext cx="3611880" cy="105156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1">
                <a:solidFill>
                  <a:srgbClr val="7C3AED"/>
                </a:solidFill>
                <a:latin typeface="Microsoft YaHei"/>
              </a:rPr>
              <a:t>LLM 编排</a:t>
            </a:r>
          </a:p>
          <a:p>
            <a:pPr algn="ctr"/>
            <a:r>
              <a:rPr sz="950" b="1">
                <a:solidFill>
                  <a:srgbClr val="7C3AED"/>
                </a:solidFill>
                <a:latin typeface="Microsoft YaHei"/>
              </a:rPr>
              <a:t>ModelRouter · BudgetController</a:t>
            </a:r>
          </a:p>
          <a:p>
            <a:pPr algn="ctr"/>
            <a:r>
              <a:rPr sz="950" b="1">
                <a:solidFill>
                  <a:srgbClr val="7C3AED"/>
                </a:solidFill>
                <a:latin typeface="Microsoft YaHei"/>
              </a:rPr>
              <a:t>LLMValueGate（固定 JSON schema）</a:t>
            </a:r>
          </a:p>
          <a:p>
            <a:pPr algn="ctr"/>
            <a:r>
              <a:rPr sz="950" b="1">
                <a:solidFill>
                  <a:srgbClr val="7C3AED"/>
                </a:solidFill>
                <a:latin typeface="Microsoft YaHei"/>
              </a:rPr>
              <a:t>PolicyGuard 不过 → 回退规则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834640"/>
            <a:ext cx="3520440" cy="105156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1">
                <a:solidFill>
                  <a:srgbClr val="DC2626"/>
                </a:solidFill>
                <a:latin typeface="Microsoft YaHei"/>
              </a:rPr>
              <a:t>safety 守护</a:t>
            </a:r>
          </a:p>
          <a:p>
            <a:pPr algn="ctr"/>
            <a:r>
              <a:rPr sz="950" b="1">
                <a:solidFill>
                  <a:srgbClr val="DC2626"/>
                </a:solidFill>
                <a:latin typeface="Microsoft YaHei"/>
              </a:rPr>
              <a:t>SourcePolicyGuard · PolicyGuard</a:t>
            </a:r>
          </a:p>
          <a:p>
            <a:pPr algn="ctr"/>
            <a:r>
              <a:rPr sz="950" b="1">
                <a:solidFill>
                  <a:srgbClr val="DC2626"/>
                </a:solidFill>
                <a:latin typeface="Microsoft YaHei"/>
              </a:rPr>
              <a:t>PII 掩码 · 输出校验</a:t>
            </a:r>
          </a:p>
          <a:p>
            <a:pPr algn="ctr"/>
            <a:r>
              <a:rPr sz="950" b="1">
                <a:solidFill>
                  <a:srgbClr val="DC2626"/>
                </a:solidFill>
                <a:latin typeface="Microsoft YaHei"/>
              </a:rPr>
              <a:t>默认 dry-run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10927080" cy="4572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Microsoft YaHei"/>
              </a:rPr>
              <a:t>storage 双后端　memory / SQLite / PostgreSQL ＋ EntityGraphStore（跨 run 共享）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09160"/>
            <a:ext cx="109270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主数据流转契约：PipelineItem → PipelineItem。</a:t>
            </a:r>
          </a:p>
          <a:p>
            <a:pPr algn="ctr"/>
            <a:r>
              <a:rPr sz="1200" b="0">
                <a:solidFill>
                  <a:srgbClr val="0F172A"/>
                </a:solidFill>
                <a:latin typeface="Microsoft YaHei"/>
              </a:rPr>
              <a:t>规则 + NLP + LLM value gate 协同：简单 query 走规则解析，复杂 / 冲突才上 LLM；LLM 不直接覆盖规则结果。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09 关键技术选型与取舍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决策 → 为什么 → 取舍/边界（详见验收报告第 11 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01752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技术决策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280160"/>
            <a:ext cx="411480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为什么这么选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280160"/>
            <a:ext cx="393192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2563EB"/>
                </a:solidFill>
                <a:latin typeface="Microsoft YaHei"/>
              </a:rPr>
              <a:t>取舍 / 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规则 + NLP + LLM 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737360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固定 token 预算下优先工程化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737360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record-enrich 无收益→conflict_only；1246 条/秒、LLM 0 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5728"/>
            <a:ext cx="30175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分类仲裁保留四层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395728"/>
            <a:ext cx="41148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防 LLM 幻觉直接覆盖规则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395728"/>
            <a:ext cx="39319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LLM 不下最终结论，冲突标 review 转人工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540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极性判别前置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3054096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摘掉防御 / 反诈 / 研究语境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054096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误报率压到 FPR 0.0504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12463"/>
            <a:ext cx="30175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线索分层 + promotion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3712463"/>
            <a:ext cx="41148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控制人工复核负担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712463"/>
            <a:ext cx="39319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复核率收敛 0.1865，弱线索归档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70831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配置化 RuleRegistry(YAML)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370831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风险词 / 正则 / 门槛免改代码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4370831"/>
            <a:ext cx="3931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可维护·可审计·可回归(rule_version)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29199"/>
            <a:ext cx="30175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Microsoft YaHei"/>
              </a:rPr>
              <a:t>默认 dry-run + SourcePolicyGuard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5029199"/>
            <a:ext cx="411480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合规边界即工程实现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5029199"/>
            <a:ext cx="3931920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50" b="0">
                <a:solidFill>
                  <a:srgbClr val="0F172A"/>
                </a:solidFill>
                <a:latin typeface="Microsoft YaHei"/>
              </a:rPr>
              <a:t>禁登录 / 验证码 / 私群绕过，PII 掩码加盐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779007"/>
            <a:ext cx="11064240" cy="4572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150" b="1">
                <a:solidFill>
                  <a:srgbClr val="16A34A"/>
                </a:solidFill>
                <a:latin typeface="Microsoft YaHei"/>
              </a:rPr>
              <a:t>统一口径：能用规则 / 工程解决的不堆大模型；不确定就交人工复核，不让模型替人下结论。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10 边界：能证明什么 / 不能声称什么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把“证据”和“结论”分开，避免夸大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486400" cy="457200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>
                <a:solidFill>
                  <a:srgbClr val="16A34A"/>
                </a:solidFill>
                <a:latin typeface="Microsoft YaHei"/>
              </a:rPr>
              <a:t>能证明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✓ 公开/授权来源真实采集 4163 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✓ 清洗→分类→实体→线索→证据链 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✓ 4 条线索可追到 source URL + trace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428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✓ 193 人工 gold：F1 0.8662/实体 0.9484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5604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✓ 线索召回 F1 1.0（24 条线索 gold）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486400" cy="4572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>
                <a:solidFill>
                  <a:srgbClr val="DC2626"/>
                </a:solidFill>
                <a:latin typeface="Microsoft YaHei"/>
              </a:rPr>
              <a:t>不能声称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✗ 不是生产实时风控，不自动封禁/处置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163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✗ 不覆盖私群、登录后页面、验证码绕过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2958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✗ 不购买数据、不恶意抓取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2428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✗ 全量来源偏 IM/TG，不是天然均衡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95604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✗ 未完成 1000 条人工标注集（现 193）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Microsoft YaHei"/>
              </a:rPr>
              <a:t>11 答辩时按文件复查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现场最快的复查路径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27080" y="274320"/>
            <a:ext cx="868680" cy="2743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Microsoft YaHei"/>
              </a:rPr>
              <a:t>交付验收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457200" cy="50292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325880"/>
            <a:ext cx="3840480" cy="502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一图看懂（先看）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325880"/>
            <a:ext cx="6355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</a:rPr>
              <a:t>docs/答辩验收材料/BlackAgent_一图看懂.md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457200" cy="50292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057400"/>
            <a:ext cx="3840480" cy="502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真实用例 + 证据链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057400"/>
            <a:ext cx="6355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</a:rPr>
              <a:t>docs/答辩验收材料/BlackAgent_真实用例速览.md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457200" cy="50292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788920"/>
            <a:ext cx="3840480" cy="502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完整验收报告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788920"/>
            <a:ext cx="6355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</a:rPr>
              <a:t>docs/答辩验收材料/BlackAgent_验收报告.md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457200" cy="50292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3520440"/>
            <a:ext cx="3840480" cy="502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最终验收摘要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3520440"/>
            <a:ext cx="6355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</a:rPr>
              <a:t>data/final_acceptance_summary.json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457200" cy="50292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251960"/>
            <a:ext cx="3840480" cy="502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线索证据索引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4251960"/>
            <a:ext cx="6355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</a:rPr>
              <a:t>data/collection_phase_multi_source_clue_evidence_index.json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83480"/>
            <a:ext cx="457200" cy="502920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4983480"/>
            <a:ext cx="3840480" cy="50292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Microsoft YaHei"/>
              </a:rPr>
              <a:t>人工评测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4983480"/>
            <a:ext cx="635508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</a:rPr>
              <a:t>data/manual_heldout_eval_current.json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52160"/>
            <a:ext cx="10332720" cy="548640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27432" bIns="27432" wrap="square">
            <a:no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Microsoft YaHei"/>
              </a:rPr>
              <a:t>一句话结论：BlackAgent 把“公开内容一步步变成可复核线索”跑通了，且每个数字、每条线索都能复查。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