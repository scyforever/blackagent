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384048"/>
            <a:ext cx="11430000" cy="60807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31520"/>
            <a:ext cx="80467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icrosoft YaHei"/>
              </a:rPr>
              <a:t>BlackAgent 真实样例逐步追踪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298448"/>
            <a:ext cx="969264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Microsoft YaHei"/>
              </a:rPr>
              <a:t>用 75 条真实采集数据说明每一步的部分数据和结果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93392"/>
            <a:ext cx="2743200" cy="9144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Microsoft YaHei"/>
              </a:rPr>
              <a:t>样例来源
公开合规来源（论坛/社交、垂直/技术、IM/群组）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86200" y="1993392"/>
            <a:ext cx="2743200" cy="914400"/>
          </a:xfrm>
          <a:prstGeom prst="roundRect">
            <a:avLst/>
          </a:prstGeom>
          <a:solidFill>
            <a:srgbClr val="F0FDF4"/>
          </a:solidFill>
          <a:ln w="88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Microsoft YaHei"/>
              </a:rPr>
              <a:t>高质量候选
2 条 / 9 个证据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993392"/>
            <a:ext cx="2743200" cy="914400"/>
          </a:xfrm>
          <a:prstGeom prst="roundRect">
            <a:avLst/>
          </a:prstGeom>
          <a:solidFill>
            <a:srgbClr val="FFF7ED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Microsoft YaHei"/>
              </a:rPr>
              <a:t>结论边界
高价值复核候选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657600"/>
            <a:ext cx="1014984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Microsoft YaHei"/>
              </a:rPr>
              <a:t>本版材料按“任务 → 查询 → 采集 → 75 条逐条处理 → 2 条候选线索 → 原始全文附录 → 人工复核建议”讲清楚。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315968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>
                <a:solidFill>
                  <a:srgbClr val="DC2626"/>
                </a:solidFill>
                <a:latin typeface="Microsoft YaHei"/>
              </a:rPr>
              <a:t>注意：本次样例能证明公开来源真实联网和线索留痕，不能证明已经人工确认黑灰产，也不能代表私群或登录后数据。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7744"/>
            <a:ext cx="86868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YaHei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37392" y="274320"/>
            <a:ext cx="640080" cy="256032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Microsoft YaHei"/>
              </a:rPr>
              <a:t>真实样例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56248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Microsoft YaHei"/>
              </a:rPr>
              <a:t>来源：data/acceptance_real_e2e_run_success.json；只展示可复查字段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55624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86868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YaHei"/>
              </a:rPr>
              <a:t>01 任务被改写成 8 个可采集查询/来源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展示真实查询内容和改写原因，不用抽象流程图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37392" y="274320"/>
            <a:ext cx="640080" cy="256032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Microsoft YaHei"/>
              </a:rPr>
              <a:t>真实样例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56248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Microsoft YaHei"/>
              </a:rPr>
              <a:t>来源：data/acceptance_real_e2e_run_success.json；只展示可复查字段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5624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24128"/>
            <a:ext cx="11155680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icrosoft YaHei"/>
              </a:rPr>
              <a:t>原始任务：联网采集公开合规来源中“接码、群控脚本、账号交易”相关线索，输出证据链和人工复核建议。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411480" cy="384048"/>
          </a:xfrm>
          <a:prstGeom prst="roundRect">
            <a:avLst/>
          </a:prstGeom>
          <a:solidFill>
            <a:srgbClr val="2563EB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8992" y="1783080"/>
            <a:ext cx="4480560" cy="384048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780" b="1">
                <a:solidFill>
                  <a:srgbClr val="0F172A"/>
                </a:solidFill>
                <a:latin typeface="Microsoft YaHei"/>
              </a:rPr>
              <a:t>site:tieba.baidu.com/p 接码 群控脚本 账号交易 交易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0" y="1783080"/>
            <a:ext cx="5806440" cy="3840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740" b="0">
                <a:solidFill>
                  <a:srgbClr val="64748B"/>
                </a:solidFill>
                <a:latin typeface="Microsoft YaHei"/>
              </a:rPr>
              <a:t>Reserve the existing Baidu Tieba site constraint, expand…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258568"/>
            <a:ext cx="411480" cy="384048"/>
          </a:xfrm>
          <a:prstGeom prst="roundRect">
            <a:avLst/>
          </a:prstGeom>
          <a:solidFill>
            <a:srgbClr val="16A34A"/>
          </a:solidFill>
          <a:ln w="88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8992" y="2258568"/>
            <a:ext cx="4480560" cy="384048"/>
          </a:xfrm>
          <a:prstGeom prst="roundRect">
            <a:avLst/>
          </a:prstGeom>
          <a:solidFill>
            <a:srgbClr val="F0FDF4"/>
          </a:solidFill>
          <a:ln w="88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780" b="1">
                <a:solidFill>
                  <a:srgbClr val="0F172A"/>
                </a:solidFill>
                <a:latin typeface="Microsoft YaHei"/>
              </a:rPr>
              <a:t>site:tieba.baidu.com/p 接码 群控脚本 账号交易 工具交易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0" y="2258568"/>
            <a:ext cx="5806440" cy="3840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740" b="0">
                <a:solidFill>
                  <a:srgbClr val="64748B"/>
                </a:solidFill>
                <a:latin typeface="Microsoft YaHei"/>
              </a:rPr>
              <a:t>Retain the existing Baidu Tieba public post site…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34056"/>
            <a:ext cx="411480" cy="384048"/>
          </a:xfrm>
          <a:prstGeom prst="roundRect">
            <a:avLst/>
          </a:prstGeom>
          <a:solidFill>
            <a:srgbClr val="7C3AED"/>
          </a:solidFill>
          <a:ln w="889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78992" y="2734056"/>
            <a:ext cx="4480560" cy="384048"/>
          </a:xfrm>
          <a:prstGeom prst="roundRect">
            <a:avLst/>
          </a:prstGeom>
          <a:solidFill>
            <a:srgbClr val="F5F3FF"/>
          </a:solidFill>
          <a:ln w="889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780" b="1">
                <a:solidFill>
                  <a:srgbClr val="0F172A"/>
                </a:solidFill>
                <a:latin typeface="Microsoft YaHei"/>
              </a:rPr>
              <a:t>site:www.freelancer.com/jobs 接码 群控脚本…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0" y="2734056"/>
            <a:ext cx="5806440" cy="3840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740" b="0">
                <a:solidFill>
                  <a:srgbClr val="64748B"/>
                </a:solidFill>
                <a:latin typeface="Microsoft YaHei"/>
              </a:rPr>
              <a:t>保留源指定的站点搜索约束，聚合所有高相关风险关键词，排除指定无关内容类型，适配合规公开来源的风险线索采集需求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209544"/>
            <a:ext cx="411480" cy="384048"/>
          </a:xfrm>
          <a:prstGeom prst="roundRect">
            <a:avLst/>
          </a:prstGeom>
          <a:solidFill>
            <a:srgbClr val="F59E0B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8992" y="3209544"/>
            <a:ext cx="4480560" cy="384048"/>
          </a:xfrm>
          <a:prstGeom prst="roundRect">
            <a:avLst/>
          </a:prstGeom>
          <a:solidFill>
            <a:srgbClr val="FFF7ED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780" b="1">
                <a:solidFill>
                  <a:srgbClr val="0F172A"/>
                </a:solidFill>
                <a:latin typeface="Microsoft YaHei"/>
              </a:rPr>
              <a:t>site:tieba.baidu.com/p 接码 群控脚本 账号交易 工具交易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0" y="3209544"/>
            <a:ext cx="5806440" cy="3840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740" b="0">
                <a:solidFill>
                  <a:srgbClr val="64748B"/>
                </a:solidFill>
                <a:latin typeface="Microsoft YaHei"/>
              </a:rPr>
              <a:t>保留指定百度贴吧帖子站点域约束，补充高相关黑灰产核心关键词，提升目标风险线索召回精准度，过滤无关合规内容干扰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685031"/>
            <a:ext cx="411480" cy="384048"/>
          </a:xfrm>
          <a:prstGeom prst="roundRect">
            <a:avLst/>
          </a:prstGeom>
          <a:solidFill>
            <a:srgbClr val="2563EB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78992" y="3685031"/>
            <a:ext cx="4480560" cy="384048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780" b="1">
                <a:solidFill>
                  <a:srgbClr val="0F172A"/>
                </a:solidFill>
                <a:latin typeface="Microsoft YaHei"/>
              </a:rPr>
              <a:t>site:telegramnav.github.io 接码 群控脚本 账号交易…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0" y="3685031"/>
            <a:ext cx="5806440" cy="3840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740" b="0">
                <a:solidFill>
                  <a:srgbClr val="64748B"/>
                </a:solidFill>
                <a:latin typeface="Microsoft YaHei"/>
              </a:rPr>
              <a:t>保留指定telegramnav.github.io站点约束，整合全量目标风险关键词，规避曝光辟谣等无关内容，适配合规…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160519"/>
            <a:ext cx="411480" cy="384048"/>
          </a:xfrm>
          <a:prstGeom prst="roundRect">
            <a:avLst/>
          </a:prstGeom>
          <a:solidFill>
            <a:srgbClr val="16A34A"/>
          </a:solidFill>
          <a:ln w="88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8992" y="4160519"/>
            <a:ext cx="4480560" cy="384048"/>
          </a:xfrm>
          <a:prstGeom prst="roundRect">
            <a:avLst/>
          </a:prstGeom>
          <a:solidFill>
            <a:srgbClr val="F0FDF4"/>
          </a:solidFill>
          <a:ln w="88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780" b="1">
                <a:solidFill>
                  <a:srgbClr val="0F172A"/>
                </a:solidFill>
                <a:latin typeface="Microsoft YaHei"/>
              </a:rPr>
              <a:t>site:tieba.baidu.com/p 卖号 账号交易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4160519"/>
            <a:ext cx="5806440" cy="3840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740" b="0">
                <a:solidFill>
                  <a:srgbClr val="64748B"/>
                </a:solidFill>
                <a:latin typeface="Microsoft YaHei"/>
              </a:rPr>
              <a:t>query_rewrite_source_limit_reached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636007"/>
            <a:ext cx="411480" cy="384048"/>
          </a:xfrm>
          <a:prstGeom prst="roundRect">
            <a:avLst/>
          </a:prstGeom>
          <a:solidFill>
            <a:srgbClr val="7C3AED"/>
          </a:solidFill>
          <a:ln w="889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78992" y="4636007"/>
            <a:ext cx="4480560" cy="384048"/>
          </a:xfrm>
          <a:prstGeom prst="roundRect">
            <a:avLst/>
          </a:prstGeom>
          <a:solidFill>
            <a:srgbClr val="F5F3FF"/>
          </a:solidFill>
          <a:ln w="889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780" b="1">
                <a:solidFill>
                  <a:srgbClr val="0F172A"/>
                </a:solidFill>
                <a:latin typeface="Microsoft YaHei"/>
              </a:rPr>
              <a:t>site:tieba.baidu.com/p 收号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0" y="4636007"/>
            <a:ext cx="5806440" cy="3840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740" b="0">
                <a:solidFill>
                  <a:srgbClr val="64748B"/>
                </a:solidFill>
                <a:latin typeface="Microsoft YaHei"/>
              </a:rPr>
              <a:t>query_rewrite_source_limit_reached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111495"/>
            <a:ext cx="411480" cy="384048"/>
          </a:xfrm>
          <a:prstGeom prst="roundRect">
            <a:avLst/>
          </a:prstGeom>
          <a:solidFill>
            <a:srgbClr val="F59E0B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8992" y="5111495"/>
            <a:ext cx="4480560" cy="384048"/>
          </a:xfrm>
          <a:prstGeom prst="roundRect">
            <a:avLst/>
          </a:prstGeom>
          <a:solidFill>
            <a:srgbClr val="FFF7ED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780" b="1">
                <a:solidFill>
                  <a:srgbClr val="0F172A"/>
                </a:solidFill>
                <a:latin typeface="Microsoft YaHei"/>
              </a:rPr>
              <a:t>site:tieba.baidu.com/p 实名号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15000" y="5111495"/>
            <a:ext cx="5806440" cy="3840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740" b="0">
                <a:solidFill>
                  <a:srgbClr val="64748B"/>
                </a:solidFill>
                <a:latin typeface="Microsoft YaHei"/>
              </a:rPr>
              <a:t>query_rewrite_source_limit_reached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5989320"/>
            <a:ext cx="10789920" cy="384048"/>
          </a:xfrm>
          <a:prstGeom prst="roundRect">
            <a:avLst/>
          </a:prstGeom>
          <a:solidFill>
            <a:srgbClr val="FFF7ED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080" b="1">
                <a:solidFill>
                  <a:srgbClr val="F59E0B"/>
                </a:solidFill>
                <a:latin typeface="Microsoft YaHei"/>
              </a:rPr>
              <a:t>这一步的重点：保留公开站点域名约束，只访问配置中的公开来源；不触碰私群、登录后页面或验证码。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86868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YaHei"/>
              </a:rPr>
              <a:t>02 6 个采集批次逐步返回什么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只展开真实批次，不做采集总览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37392" y="274320"/>
            <a:ext cx="640080" cy="256032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Microsoft YaHei"/>
              </a:rPr>
              <a:t>真实样例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56248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Microsoft YaHei"/>
              </a:rPr>
              <a:t>来源：data/acceptance_real_e2e_run_success.json；只展示可复查字段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5624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51560"/>
            <a:ext cx="502920" cy="438912"/>
          </a:xfrm>
          <a:prstGeom prst="rect">
            <a:avLst/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750" b="1">
                <a:solidFill>
                  <a:srgbClr val="2563EB"/>
                </a:solidFill>
                <a:latin typeface="Microsoft YaHei"/>
              </a:rPr>
              <a:t>批次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051560"/>
            <a:ext cx="1417320" cy="438912"/>
          </a:xfrm>
          <a:prstGeom prst="rect">
            <a:avLst/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750" b="1">
                <a:solidFill>
                  <a:srgbClr val="2563EB"/>
                </a:solidFill>
                <a:latin typeface="Microsoft YaHei"/>
              </a:rPr>
              <a:t>来源类别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1720" y="1051560"/>
            <a:ext cx="1600200" cy="438912"/>
          </a:xfrm>
          <a:prstGeom prst="rect">
            <a:avLst/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750" b="1">
                <a:solidFill>
                  <a:srgbClr val="2563EB"/>
                </a:solidFill>
                <a:latin typeface="Microsoft YaHei"/>
              </a:rPr>
              <a:t>采集层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051560"/>
            <a:ext cx="685800" cy="438912"/>
          </a:xfrm>
          <a:prstGeom prst="rect">
            <a:avLst/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750" b="1">
                <a:solidFill>
                  <a:srgbClr val="2563EB"/>
                </a:solidFill>
                <a:latin typeface="Microsoft YaHei"/>
              </a:rPr>
              <a:t>返回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1051560"/>
            <a:ext cx="4709160" cy="438912"/>
          </a:xfrm>
          <a:prstGeom prst="rect">
            <a:avLst/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750" b="1">
                <a:solidFill>
                  <a:srgbClr val="2563EB"/>
                </a:solidFill>
                <a:latin typeface="Microsoft YaHei"/>
              </a:rPr>
              <a:t>错误/状态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0" y="1051560"/>
            <a:ext cx="2880360" cy="438912"/>
          </a:xfrm>
          <a:prstGeom prst="rect">
            <a:avLst/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750" b="1">
                <a:solidFill>
                  <a:srgbClr val="2563EB"/>
                </a:solidFill>
                <a:latin typeface="Microsoft YaHei"/>
              </a:rPr>
              <a:t>对本样例的影响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490472"/>
            <a:ext cx="50292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750" b="0">
                <a:solidFill>
                  <a:srgbClr val="0F172A"/>
                </a:solidFill>
                <a:latin typeface="Microsoft YaHei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1490472"/>
            <a:ext cx="141732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750" b="0">
                <a:solidFill>
                  <a:srgbClr val="0F172A"/>
                </a:solidFill>
                <a:latin typeface="Microsoft YaHei"/>
              </a:rPr>
              <a:t>social_or_forum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1720" y="1490472"/>
            <a:ext cx="16002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750" b="0">
                <a:solidFill>
                  <a:srgbClr val="0F172A"/>
                </a:solidFill>
                <a:latin typeface="Microsoft YaHei"/>
              </a:rPr>
              <a:t>theme_core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1490472"/>
            <a:ext cx="6858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750" b="0">
                <a:solidFill>
                  <a:srgbClr val="0F172A"/>
                </a:solidFill>
                <a:latin typeface="Microsoft YaHei"/>
              </a:rPr>
              <a:t>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7720" y="1490472"/>
            <a:ext cx="470916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750" b="0">
                <a:solidFill>
                  <a:srgbClr val="0F172A"/>
                </a:solidFill>
                <a:latin typeface="Microsoft YaHei"/>
              </a:rPr>
              <a:t>无错误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0" y="1490472"/>
            <a:ext cx="288036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750" b="0">
                <a:solidFill>
                  <a:srgbClr val="0F172A"/>
                </a:solidFill>
                <a:latin typeface="Microsoft YaHei"/>
              </a:rPr>
              <a:t>返回有效样本；本轮共 75 条探索记录参与后续处理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1929384"/>
            <a:ext cx="502920" cy="43891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750" b="0">
                <a:solidFill>
                  <a:srgbClr val="0F172A"/>
                </a:solidFill>
                <a:latin typeface="Microsoft YaHei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1929384"/>
            <a:ext cx="1417320" cy="43891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750" b="0">
                <a:solidFill>
                  <a:srgbClr val="0F172A"/>
                </a:solidFill>
                <a:latin typeface="Microsoft YaHei"/>
              </a:rPr>
              <a:t>social_or_forum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1929384"/>
            <a:ext cx="1600200" cy="43891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750" b="0">
                <a:solidFill>
                  <a:srgbClr val="0F172A"/>
                </a:solidFill>
                <a:latin typeface="Microsoft YaHei"/>
              </a:rPr>
              <a:t>theme_core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0" y="1929384"/>
            <a:ext cx="685800" cy="43891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750" b="0">
                <a:solidFill>
                  <a:srgbClr val="0F172A"/>
                </a:solidFill>
                <a:latin typeface="Microsoft YaHei"/>
              </a:rPr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17720" y="1929384"/>
            <a:ext cx="4709160" cy="43891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750" b="0">
                <a:solidFill>
                  <a:srgbClr val="0F172A"/>
                </a:solidFill>
                <a:latin typeface="Microsoft YaHei"/>
              </a:rPr>
              <a:t>无错误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0" y="1929384"/>
            <a:ext cx="2880360" cy="43891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750" b="0">
                <a:solidFill>
                  <a:srgbClr val="0F172A"/>
                </a:solidFill>
                <a:latin typeface="Microsoft YaHei"/>
              </a:rPr>
              <a:t>返回有效样本；本轮共 75 条探索记录参与后续处理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2368296"/>
            <a:ext cx="50292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750" b="0">
                <a:solidFill>
                  <a:srgbClr val="0F172A"/>
                </a:solidFill>
                <a:latin typeface="Microsoft YaHei"/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2368296"/>
            <a:ext cx="141732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750" b="0">
                <a:solidFill>
                  <a:srgbClr val="0F172A"/>
                </a:solidFill>
                <a:latin typeface="Microsoft YaHei"/>
              </a:rPr>
              <a:t>vertical_or_technical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31720" y="2368296"/>
            <a:ext cx="16002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750" b="0">
                <a:solidFill>
                  <a:srgbClr val="0F172A"/>
                </a:solidFill>
                <a:latin typeface="Microsoft YaHei"/>
              </a:rPr>
              <a:t>theme_core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31920" y="2368296"/>
            <a:ext cx="6858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750" b="0">
                <a:solidFill>
                  <a:srgbClr val="0F172A"/>
                </a:solidFill>
                <a:latin typeface="Microsoft YaHei"/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17720" y="2368296"/>
            <a:ext cx="470916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750" b="0">
                <a:solidFill>
                  <a:srgbClr val="0F172A"/>
                </a:solidFill>
                <a:latin typeface="Microsoft YaHei"/>
              </a:rPr>
              <a:t>无错误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26880" y="2368296"/>
            <a:ext cx="288036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750" b="0">
                <a:solidFill>
                  <a:srgbClr val="0F172A"/>
                </a:solidFill>
                <a:latin typeface="Microsoft YaHei"/>
              </a:rPr>
              <a:t>返回有效样本；本轮共 75 条探索记录参与后续处理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2807208"/>
            <a:ext cx="502920" cy="43891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750" b="0">
                <a:solidFill>
                  <a:srgbClr val="0F172A"/>
                </a:solidFill>
                <a:latin typeface="Microsoft YaHei"/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2807208"/>
            <a:ext cx="1417320" cy="43891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750" b="0">
                <a:solidFill>
                  <a:srgbClr val="0F172A"/>
                </a:solidFill>
                <a:latin typeface="Microsoft YaHei"/>
              </a:rPr>
              <a:t>social_or_forum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31720" y="2807208"/>
            <a:ext cx="1600200" cy="43891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750" b="0">
                <a:solidFill>
                  <a:srgbClr val="0F172A"/>
                </a:solidFill>
                <a:latin typeface="Microsoft YaHei"/>
              </a:rPr>
              <a:t>global_core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1920" y="2807208"/>
            <a:ext cx="685800" cy="43891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750" b="0">
                <a:solidFill>
                  <a:srgbClr val="0F172A"/>
                </a:solidFill>
                <a:latin typeface="Microsoft YaHei"/>
              </a:rPr>
              <a:t>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17720" y="2807208"/>
            <a:ext cx="4709160" cy="43891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750" b="0">
                <a:solidFill>
                  <a:srgbClr val="0F172A"/>
                </a:solidFill>
                <a:latin typeface="Microsoft YaHei"/>
              </a:rPr>
              <a:t>无错误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26880" y="2807208"/>
            <a:ext cx="2880360" cy="43891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750" b="0">
                <a:solidFill>
                  <a:srgbClr val="0F172A"/>
                </a:solidFill>
                <a:latin typeface="Microsoft YaHei"/>
              </a:rPr>
              <a:t>返回有效样本；本轮共 75 条探索记录参与后续处理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3246120"/>
            <a:ext cx="50292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750" b="0">
                <a:solidFill>
                  <a:srgbClr val="0F172A"/>
                </a:solidFill>
                <a:latin typeface="Microsoft YaHei"/>
              </a:rPr>
              <a:t>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3246120"/>
            <a:ext cx="141732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750" b="0">
                <a:solidFill>
                  <a:srgbClr val="0F172A"/>
                </a:solidFill>
                <a:latin typeface="Microsoft YaHei"/>
              </a:rPr>
              <a:t>im_or_group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31720" y="3246120"/>
            <a:ext cx="16002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750" b="0">
                <a:solidFill>
                  <a:srgbClr val="0F172A"/>
                </a:solidFill>
                <a:latin typeface="Microsoft YaHei"/>
              </a:rPr>
              <a:t>global_core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31920" y="3246120"/>
            <a:ext cx="6858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750" b="0">
                <a:solidFill>
                  <a:srgbClr val="0F172A"/>
                </a:solidFill>
                <a:latin typeface="Microsoft YaHei"/>
              </a:rPr>
              <a:t>42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7720" y="3246120"/>
            <a:ext cx="470916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750" b="0">
                <a:solidFill>
                  <a:srgbClr val="0F172A"/>
                </a:solidFill>
                <a:latin typeface="Microsoft YaHei"/>
              </a:rPr>
              <a:t>无错误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26880" y="3246120"/>
            <a:ext cx="288036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750" b="0">
                <a:solidFill>
                  <a:srgbClr val="0F172A"/>
                </a:solidFill>
                <a:latin typeface="Microsoft YaHei"/>
              </a:rPr>
              <a:t>返回有效样本；本轮共 75 条探索记录参与后续处理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3685031"/>
            <a:ext cx="502920" cy="43891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750" b="0">
                <a:solidFill>
                  <a:srgbClr val="0F172A"/>
                </a:solidFill>
                <a:latin typeface="Microsoft YaHei"/>
              </a:rPr>
              <a:t>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" y="3685031"/>
            <a:ext cx="1417320" cy="43891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750" b="0">
                <a:solidFill>
                  <a:srgbClr val="0F172A"/>
                </a:solidFill>
                <a:latin typeface="Microsoft YaHei"/>
              </a:rPr>
              <a:t>social_or_forum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331720" y="3685031"/>
            <a:ext cx="1600200" cy="43891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750" b="0">
                <a:solidFill>
                  <a:srgbClr val="0F172A"/>
                </a:solidFill>
                <a:latin typeface="Microsoft YaHei"/>
              </a:rPr>
              <a:t>global_core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931920" y="3685031"/>
            <a:ext cx="685800" cy="43891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750" b="0">
                <a:solidFill>
                  <a:srgbClr val="0F172A"/>
                </a:solidFill>
                <a:latin typeface="Microsoft YaHei"/>
              </a:rPr>
              <a:t>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17720" y="3685031"/>
            <a:ext cx="4709160" cy="43891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750" b="0">
                <a:solidFill>
                  <a:srgbClr val="0F172A"/>
                </a:solidFill>
                <a:latin typeface="Microsoft YaHei"/>
              </a:rPr>
              <a:t>无错误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26880" y="3685031"/>
            <a:ext cx="2880360" cy="43891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750" b="0">
                <a:solidFill>
                  <a:srgbClr val="0F172A"/>
                </a:solidFill>
                <a:latin typeface="Microsoft YaHei"/>
              </a:rPr>
              <a:t>返回有效样本；本轮共 75 条探索记录参与后续处理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" y="4663440"/>
            <a:ext cx="5394960" cy="86868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Microsoft YaHei"/>
              </a:rPr>
              <a:t>下一步追踪 75 条数据
每条保留追踪号，后续分类、抽取和线索去向都围绕追踪号展开。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09360" y="4663440"/>
            <a:ext cx="5303520" cy="868680"/>
          </a:xfrm>
          <a:prstGeom prst="roundRect">
            <a:avLst/>
          </a:prstGeom>
          <a:solidFill>
            <a:srgbClr val="FEF2F2"/>
          </a:solidFill>
          <a:ln w="889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300" b="1">
                <a:solidFill>
                  <a:srgbClr val="DC2626"/>
                </a:solidFill>
                <a:latin typeface="Microsoft YaHei"/>
              </a:rPr>
              <a:t>不夸大失败批次
超时和错误没有被包装成有效数据；材料只采用实际返回样本。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86868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YaHei"/>
              </a:rPr>
              <a:t>03 75 条数据逐条明细（1/5）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每行都是一个 trace_id；最后一列说明本条最终去向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37392" y="274320"/>
            <a:ext cx="640080" cy="256032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Microsoft YaHei"/>
              </a:rPr>
              <a:t>真实样例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56248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Microsoft YaHei"/>
              </a:rPr>
              <a:t>来源：data/acceptance_real_e2e_run_success.json；只展示可复查字段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5624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33271"/>
            <a:ext cx="502920" cy="329184"/>
          </a:xfrm>
          <a:prstGeom prst="rect">
            <a:avLst/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1">
                <a:solidFill>
                  <a:srgbClr val="2563EB"/>
                </a:solidFill>
                <a:latin typeface="Microsoft YaHei"/>
              </a:rP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033271"/>
            <a:ext cx="1078992" cy="329184"/>
          </a:xfrm>
          <a:prstGeom prst="rect">
            <a:avLst/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1">
                <a:solidFill>
                  <a:srgbClr val="2563EB"/>
                </a:solidFill>
                <a:latin typeface="Microsoft YaHei"/>
              </a:rPr>
              <a:t>追踪号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901952" y="1033271"/>
            <a:ext cx="1325880" cy="329184"/>
          </a:xfrm>
          <a:prstGeom prst="rect">
            <a:avLst/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1">
                <a:solidFill>
                  <a:srgbClr val="2563EB"/>
                </a:solidFill>
                <a:latin typeface="Microsoft YaHei"/>
              </a:rPr>
              <a:t>分类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27832" y="1033271"/>
            <a:ext cx="685800" cy="329184"/>
          </a:xfrm>
          <a:prstGeom prst="rect">
            <a:avLst/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1">
                <a:solidFill>
                  <a:srgbClr val="2563EB"/>
                </a:solidFill>
                <a:latin typeface="Microsoft YaHei"/>
              </a:rPr>
              <a:t>置信度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13632" y="1033271"/>
            <a:ext cx="6629400" cy="329184"/>
          </a:xfrm>
          <a:prstGeom prst="rect">
            <a:avLst/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1">
                <a:solidFill>
                  <a:srgbClr val="2563EB"/>
                </a:solidFill>
                <a:latin typeface="Microsoft YaHei"/>
              </a:rPr>
              <a:t>抽取到的部分信息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43032" y="1033271"/>
            <a:ext cx="1508760" cy="329184"/>
          </a:xfrm>
          <a:prstGeom prst="rect">
            <a:avLst/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1">
                <a:solidFill>
                  <a:srgbClr val="2563EB"/>
                </a:solidFill>
                <a:latin typeface="Microsoft YaHei"/>
              </a:rPr>
              <a:t>去向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362455"/>
            <a:ext cx="5029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1362455"/>
            <a:ext cx="1078992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5dd824e3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01952" y="1362455"/>
            <a:ext cx="132588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正常业务白噪声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27832" y="1362455"/>
            <a:ext cx="6858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0.74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13632" y="1362455"/>
            <a:ext cx="66294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工具名:脚本；链接:1tieba.baidu.com/p/9…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43032" y="1362455"/>
            <a:ext cx="150876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1691639"/>
            <a:ext cx="50292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1691639"/>
            <a:ext cx="1078992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6c7c95f3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01952" y="1691639"/>
            <a:ext cx="132588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未知风险模式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27832" y="1691639"/>
            <a:ext cx="6858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0.47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13632" y="1691639"/>
            <a:ext cx="66294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该条摘要未展示可见抽取字段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43032" y="1691639"/>
            <a:ext cx="150876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020823"/>
            <a:ext cx="5029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2020823"/>
            <a:ext cx="1078992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791aca31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01952" y="2020823"/>
            <a:ext cx="132588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工具交易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27832" y="2020823"/>
            <a:ext cx="6858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0.74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13632" y="2020823"/>
            <a:ext cx="66294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工具名:脚本；链接:3tieba.baidu.com/p/7…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43032" y="2020823"/>
            <a:ext cx="150876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350007"/>
            <a:ext cx="50292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2350007"/>
            <a:ext cx="1078992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46a70c46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01952" y="2350007"/>
            <a:ext cx="132588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工具交易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27832" y="2350007"/>
            <a:ext cx="6858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0.74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13632" y="2350007"/>
            <a:ext cx="66294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工具名:群控；工具名:脚本；链接:4tieba.baidu.…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543032" y="2350007"/>
            <a:ext cx="150876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2679191"/>
            <a:ext cx="5029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" y="2679191"/>
            <a:ext cx="1078992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7d4ca0ff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01952" y="2679191"/>
            <a:ext cx="132588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工具交易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27832" y="2679191"/>
            <a:ext cx="6858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0.74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913632" y="2679191"/>
            <a:ext cx="66294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工具名:群控；工具名:脚本；链接:5tieba.baidu.…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543032" y="2679191"/>
            <a:ext cx="150876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3008375"/>
            <a:ext cx="50292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" y="3008375"/>
            <a:ext cx="1078992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7107fb60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01952" y="3008375"/>
            <a:ext cx="132588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工具交易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27832" y="3008375"/>
            <a:ext cx="6858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0.74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13632" y="3008375"/>
            <a:ext cx="66294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工具名:脚本；链接:9tieba.baidu.com/p/7…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543032" y="3008375"/>
            <a:ext cx="150876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3337559"/>
            <a:ext cx="5029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" y="3337559"/>
            <a:ext cx="1078992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f8e1402a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01952" y="3337559"/>
            <a:ext cx="132588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工具交易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27832" y="3337559"/>
            <a:ext cx="6858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0.74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913632" y="3337559"/>
            <a:ext cx="66294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工具名:脚本；链接:10tieba.baidu.com/p/…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543032" y="3337559"/>
            <a:ext cx="150876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高质量证据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3666743"/>
            <a:ext cx="50292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2960" y="3666743"/>
            <a:ext cx="1078992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ba2bdc5f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01952" y="3666743"/>
            <a:ext cx="132588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工具交易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27832" y="3666743"/>
            <a:ext cx="6858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0.74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13632" y="3666743"/>
            <a:ext cx="66294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工具名:群控；工具名:脚本；链接:1tieba.baidu.…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543032" y="3666743"/>
            <a:ext cx="150876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3995927"/>
            <a:ext cx="5029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9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2960" y="3995927"/>
            <a:ext cx="1078992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ce824383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901952" y="3995927"/>
            <a:ext cx="132588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工具交易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27832" y="3995927"/>
            <a:ext cx="6858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0.74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913632" y="3995927"/>
            <a:ext cx="66294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工具名:群控；工具名:脚本；链接:3tieba.baidu.…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543032" y="3995927"/>
            <a:ext cx="150876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" y="4325112"/>
            <a:ext cx="50292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10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22960" y="4325112"/>
            <a:ext cx="1078992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3c25fcee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901952" y="4325112"/>
            <a:ext cx="132588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工具交易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27832" y="4325112"/>
            <a:ext cx="6858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0.74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913632" y="4325112"/>
            <a:ext cx="66294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工具名:群控；工具名:脚本；链接:4tieba.baidu.…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543032" y="4325112"/>
            <a:ext cx="150876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0040" y="4654296"/>
            <a:ext cx="5029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11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22960" y="4654296"/>
            <a:ext cx="1078992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1389b3fd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901952" y="4654296"/>
            <a:ext cx="132588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工具交易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27832" y="4654296"/>
            <a:ext cx="6858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0.74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913632" y="4654296"/>
            <a:ext cx="66294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工具名:群控；链接:5tieba.baidu.com/p/1…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543032" y="4654296"/>
            <a:ext cx="150876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0040" y="4983480"/>
            <a:ext cx="50292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12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22960" y="4983480"/>
            <a:ext cx="1078992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eaa32b9a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901952" y="4983480"/>
            <a:ext cx="132588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工具交易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227832" y="4983480"/>
            <a:ext cx="6858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0.74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913632" y="4983480"/>
            <a:ext cx="66294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工具名:脚本；链接:6tieba.baidu.com/p/9…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543032" y="4983480"/>
            <a:ext cx="150876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0040" y="5312664"/>
            <a:ext cx="5029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13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2960" y="5312664"/>
            <a:ext cx="1078992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9f11b9e8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901952" y="5312664"/>
            <a:ext cx="132588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工具交易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227832" y="5312664"/>
            <a:ext cx="6858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0.74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913632" y="5312664"/>
            <a:ext cx="66294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工具名:群控；工具名:脚本；链接:7tieba.baidu.…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543032" y="5312664"/>
            <a:ext cx="150876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20040" y="5641848"/>
            <a:ext cx="50292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14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22960" y="5641848"/>
            <a:ext cx="1078992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c07fb1c1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901952" y="5641848"/>
            <a:ext cx="132588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工具交易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227832" y="5641848"/>
            <a:ext cx="6858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0.74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913632" y="5641848"/>
            <a:ext cx="66294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工具名:脚本；链接:8tieba.baidu.com/p/7…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543032" y="5641848"/>
            <a:ext cx="150876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20040" y="5971032"/>
            <a:ext cx="5029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15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22960" y="5971032"/>
            <a:ext cx="1078992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876cacee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901952" y="5971032"/>
            <a:ext cx="132588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工具交易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227832" y="5971032"/>
            <a:ext cx="6858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0.74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913632" y="5971032"/>
            <a:ext cx="66294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工具名:脚本；链接:9tieba.baidu.com/p/8…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543032" y="5971032"/>
            <a:ext cx="150876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86868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YaHei"/>
              </a:rPr>
              <a:t>03 75 条数据逐条明细（2/5）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每行都是一个 trace_id；最后一列说明本条最终去向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37392" y="274320"/>
            <a:ext cx="640080" cy="256032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Microsoft YaHei"/>
              </a:rPr>
              <a:t>真实样例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56248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Microsoft YaHei"/>
              </a:rPr>
              <a:t>来源：data/acceptance_real_e2e_run_success.json；只展示可复查字段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5624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33271"/>
            <a:ext cx="502920" cy="329184"/>
          </a:xfrm>
          <a:prstGeom prst="rect">
            <a:avLst/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1">
                <a:solidFill>
                  <a:srgbClr val="2563EB"/>
                </a:solidFill>
                <a:latin typeface="Microsoft YaHei"/>
              </a:rP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033271"/>
            <a:ext cx="1078992" cy="329184"/>
          </a:xfrm>
          <a:prstGeom prst="rect">
            <a:avLst/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1">
                <a:solidFill>
                  <a:srgbClr val="2563EB"/>
                </a:solidFill>
                <a:latin typeface="Microsoft YaHei"/>
              </a:rPr>
              <a:t>追踪号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901952" y="1033271"/>
            <a:ext cx="1325880" cy="329184"/>
          </a:xfrm>
          <a:prstGeom prst="rect">
            <a:avLst/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1">
                <a:solidFill>
                  <a:srgbClr val="2563EB"/>
                </a:solidFill>
                <a:latin typeface="Microsoft YaHei"/>
              </a:rPr>
              <a:t>分类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27832" y="1033271"/>
            <a:ext cx="685800" cy="329184"/>
          </a:xfrm>
          <a:prstGeom prst="rect">
            <a:avLst/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1">
                <a:solidFill>
                  <a:srgbClr val="2563EB"/>
                </a:solidFill>
                <a:latin typeface="Microsoft YaHei"/>
              </a:rPr>
              <a:t>置信度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13632" y="1033271"/>
            <a:ext cx="6629400" cy="329184"/>
          </a:xfrm>
          <a:prstGeom prst="rect">
            <a:avLst/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1">
                <a:solidFill>
                  <a:srgbClr val="2563EB"/>
                </a:solidFill>
                <a:latin typeface="Microsoft YaHei"/>
              </a:rPr>
              <a:t>抽取到的部分信息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43032" y="1033271"/>
            <a:ext cx="1508760" cy="329184"/>
          </a:xfrm>
          <a:prstGeom prst="rect">
            <a:avLst/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1">
                <a:solidFill>
                  <a:srgbClr val="2563EB"/>
                </a:solidFill>
                <a:latin typeface="Microsoft YaHei"/>
              </a:rPr>
              <a:t>去向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362455"/>
            <a:ext cx="5029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1362455"/>
            <a:ext cx="1078992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1aa211e8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01952" y="1362455"/>
            <a:ext cx="132588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工具交易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27832" y="1362455"/>
            <a:ext cx="6858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0.74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13632" y="1362455"/>
            <a:ext cx="66294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工具名:脚本；链接:10tieba.baidu.com/p/…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43032" y="1362455"/>
            <a:ext cx="150876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高质量证据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1691639"/>
            <a:ext cx="50292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17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1691639"/>
            <a:ext cx="1078992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75e23ad1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01952" y="1691639"/>
            <a:ext cx="132588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工具交易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27832" y="1691639"/>
            <a:ext cx="6858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0.74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13632" y="1691639"/>
            <a:ext cx="66294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链接:www.freelancer.com/jobs；工具名…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43032" y="1691639"/>
            <a:ext cx="150876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020823"/>
            <a:ext cx="5029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18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2020823"/>
            <a:ext cx="1078992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8797a5dc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01952" y="2020823"/>
            <a:ext cx="132588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工具交易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27832" y="2020823"/>
            <a:ext cx="6858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0.74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13632" y="2020823"/>
            <a:ext cx="66294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工具名:群控；工具名:脚本；链接:1tieba.baidu.…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43032" y="2020823"/>
            <a:ext cx="150876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350007"/>
            <a:ext cx="50292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19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2350007"/>
            <a:ext cx="1078992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0db5d41d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01952" y="2350007"/>
            <a:ext cx="132588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工具交易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27832" y="2350007"/>
            <a:ext cx="6858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0.74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13632" y="2350007"/>
            <a:ext cx="66294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工具名:群控；工具名:脚本；链接:3tieba.baidu.…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543032" y="2350007"/>
            <a:ext cx="150876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2679191"/>
            <a:ext cx="5029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20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" y="2679191"/>
            <a:ext cx="1078992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384b8535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01952" y="2679191"/>
            <a:ext cx="132588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工具交易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27832" y="2679191"/>
            <a:ext cx="6858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0.74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913632" y="2679191"/>
            <a:ext cx="66294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工具名:群控；工具名:脚本；链接:4tieba.baidu.…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543032" y="2679191"/>
            <a:ext cx="150876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3008375"/>
            <a:ext cx="50292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21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" y="3008375"/>
            <a:ext cx="1078992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1c807a42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01952" y="3008375"/>
            <a:ext cx="132588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工具交易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27832" y="3008375"/>
            <a:ext cx="6858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0.74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13632" y="3008375"/>
            <a:ext cx="66294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工具名:群控；链接:5tieba.baidu.com/p/1…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543032" y="3008375"/>
            <a:ext cx="150876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3337559"/>
            <a:ext cx="5029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22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" y="3337559"/>
            <a:ext cx="1078992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10f50eff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01952" y="3337559"/>
            <a:ext cx="132588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工具交易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27832" y="3337559"/>
            <a:ext cx="6858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0.74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913632" y="3337559"/>
            <a:ext cx="66294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工具名:脚本；链接:6tieba.baidu.com/p/9…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543032" y="3337559"/>
            <a:ext cx="150876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3666743"/>
            <a:ext cx="50292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23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2960" y="3666743"/>
            <a:ext cx="1078992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d2139540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01952" y="3666743"/>
            <a:ext cx="132588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工具交易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27832" y="3666743"/>
            <a:ext cx="6858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0.74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13632" y="3666743"/>
            <a:ext cx="66294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工具名:群控；工具名:脚本；链接:7tieba.baidu.…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543032" y="3666743"/>
            <a:ext cx="150876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3995927"/>
            <a:ext cx="5029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24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2960" y="3995927"/>
            <a:ext cx="1078992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f0957b07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901952" y="3995927"/>
            <a:ext cx="132588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工具交易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27832" y="3995927"/>
            <a:ext cx="6858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0.74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913632" y="3995927"/>
            <a:ext cx="66294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工具名:脚本；链接:8tieba.baidu.com/p/7…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543032" y="3995927"/>
            <a:ext cx="150876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" y="4325112"/>
            <a:ext cx="50292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25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22960" y="4325112"/>
            <a:ext cx="1078992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ba47c3ea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901952" y="4325112"/>
            <a:ext cx="132588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工具交易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27832" y="4325112"/>
            <a:ext cx="6858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0.74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913632" y="4325112"/>
            <a:ext cx="66294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工具名:脚本；链接:9tieba.baidu.com/p/8…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543032" y="4325112"/>
            <a:ext cx="150876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0040" y="4654296"/>
            <a:ext cx="5029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26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22960" y="4654296"/>
            <a:ext cx="1078992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9bf8c3ea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901952" y="4654296"/>
            <a:ext cx="132588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工具交易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27832" y="4654296"/>
            <a:ext cx="6858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0.74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913632" y="4654296"/>
            <a:ext cx="66294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工具名:脚本；链接:10tieba.baidu.com/p/…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543032" y="4654296"/>
            <a:ext cx="150876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高质量证据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0040" y="4983480"/>
            <a:ext cx="50292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27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22960" y="4983480"/>
            <a:ext cx="1078992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54c827d5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901952" y="4983480"/>
            <a:ext cx="132588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诈骗引流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227832" y="4983480"/>
            <a:ext cx="6858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0.74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913632" y="4983480"/>
            <a:ext cx="66294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黑话:v；黑话:Telegram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543032" y="4983480"/>
            <a:ext cx="150876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0040" y="5312664"/>
            <a:ext cx="5029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28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2960" y="5312664"/>
            <a:ext cx="1078992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1e194754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901952" y="5312664"/>
            <a:ext cx="132588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诈骗引流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227832" y="5312664"/>
            <a:ext cx="6858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0.74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913632" y="5312664"/>
            <a:ext cx="66294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链接:https://telegramnav.github.…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543032" y="5312664"/>
            <a:ext cx="150876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高质量证据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20040" y="5641848"/>
            <a:ext cx="50292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29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22960" y="5641848"/>
            <a:ext cx="1078992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1d808079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901952" y="5641848"/>
            <a:ext cx="132588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诈骗引流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227832" y="5641848"/>
            <a:ext cx="6858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0.74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913632" y="5641848"/>
            <a:ext cx="66294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链接:https://telegramnav.github.…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543032" y="5641848"/>
            <a:ext cx="150876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高质量证据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20040" y="5971032"/>
            <a:ext cx="5029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30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22960" y="5971032"/>
            <a:ext cx="1078992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efdaa322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901952" y="5971032"/>
            <a:ext cx="132588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诈骗引流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227832" y="5971032"/>
            <a:ext cx="6858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0.74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913632" y="5971032"/>
            <a:ext cx="66294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链接:https://telegramnav.github.…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543032" y="5971032"/>
            <a:ext cx="150876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高质量证据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86868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YaHei"/>
              </a:rPr>
              <a:t>03 75 条数据逐条明细（3/5）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每行都是一个 trace_id；最后一列说明本条最终去向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37392" y="274320"/>
            <a:ext cx="640080" cy="256032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Microsoft YaHei"/>
              </a:rPr>
              <a:t>真实样例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56248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Microsoft YaHei"/>
              </a:rPr>
              <a:t>来源：data/acceptance_real_e2e_run_success.json；只展示可复查字段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5624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33271"/>
            <a:ext cx="502920" cy="329184"/>
          </a:xfrm>
          <a:prstGeom prst="rect">
            <a:avLst/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1">
                <a:solidFill>
                  <a:srgbClr val="2563EB"/>
                </a:solidFill>
                <a:latin typeface="Microsoft YaHei"/>
              </a:rP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033271"/>
            <a:ext cx="1078992" cy="329184"/>
          </a:xfrm>
          <a:prstGeom prst="rect">
            <a:avLst/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1">
                <a:solidFill>
                  <a:srgbClr val="2563EB"/>
                </a:solidFill>
                <a:latin typeface="Microsoft YaHei"/>
              </a:rPr>
              <a:t>追踪号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901952" y="1033271"/>
            <a:ext cx="1325880" cy="329184"/>
          </a:xfrm>
          <a:prstGeom prst="rect">
            <a:avLst/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1">
                <a:solidFill>
                  <a:srgbClr val="2563EB"/>
                </a:solidFill>
                <a:latin typeface="Microsoft YaHei"/>
              </a:rPr>
              <a:t>分类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27832" y="1033271"/>
            <a:ext cx="685800" cy="329184"/>
          </a:xfrm>
          <a:prstGeom prst="rect">
            <a:avLst/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1">
                <a:solidFill>
                  <a:srgbClr val="2563EB"/>
                </a:solidFill>
                <a:latin typeface="Microsoft YaHei"/>
              </a:rPr>
              <a:t>置信度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13632" y="1033271"/>
            <a:ext cx="6629400" cy="329184"/>
          </a:xfrm>
          <a:prstGeom prst="rect">
            <a:avLst/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1">
                <a:solidFill>
                  <a:srgbClr val="2563EB"/>
                </a:solidFill>
                <a:latin typeface="Microsoft YaHei"/>
              </a:rPr>
              <a:t>抽取到的部分信息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43032" y="1033271"/>
            <a:ext cx="1508760" cy="329184"/>
          </a:xfrm>
          <a:prstGeom prst="rect">
            <a:avLst/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1">
                <a:solidFill>
                  <a:srgbClr val="2563EB"/>
                </a:solidFill>
                <a:latin typeface="Microsoft YaHei"/>
              </a:rPr>
              <a:t>去向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362455"/>
            <a:ext cx="5029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31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1362455"/>
            <a:ext cx="1078992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c86415b3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01952" y="1362455"/>
            <a:ext cx="132588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诈骗引流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27832" y="1362455"/>
            <a:ext cx="6858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0.74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13632" y="1362455"/>
            <a:ext cx="66294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链接:https://telegramnav.github.…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43032" y="1362455"/>
            <a:ext cx="150876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高质量证据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1691639"/>
            <a:ext cx="50292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32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1691639"/>
            <a:ext cx="1078992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e2673eff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01952" y="1691639"/>
            <a:ext cx="132588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未知风险模式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27832" y="1691639"/>
            <a:ext cx="6858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0.47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13632" y="1691639"/>
            <a:ext cx="66294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黑话:Telegram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43032" y="1691639"/>
            <a:ext cx="150876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020823"/>
            <a:ext cx="5029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33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2020823"/>
            <a:ext cx="1078992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205fc641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01952" y="2020823"/>
            <a:ext cx="132588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工具交易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27832" y="2020823"/>
            <a:ext cx="6858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0.74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13632" y="2020823"/>
            <a:ext cx="66294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页面片段:ebar-…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43032" y="2020823"/>
            <a:ext cx="150876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350007"/>
            <a:ext cx="50292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34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2350007"/>
            <a:ext cx="1078992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f0e682da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01952" y="2350007"/>
            <a:ext cx="132588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诈骗引流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27832" y="2350007"/>
            <a:ext cx="6858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0.74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13632" y="2350007"/>
            <a:ext cx="66294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黑话:v；黑话:Telegram；链接:https://te…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543032" y="2350007"/>
            <a:ext cx="150876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高质量证据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2679191"/>
            <a:ext cx="5029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35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" y="2679191"/>
            <a:ext cx="1078992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5e4937c6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01952" y="2679191"/>
            <a:ext cx="132588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诈骗引流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27832" y="2679191"/>
            <a:ext cx="6858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0.74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913632" y="2679191"/>
            <a:ext cx="66294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链接:https://telegramnav.github.…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543032" y="2679191"/>
            <a:ext cx="150876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高质量证据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3008375"/>
            <a:ext cx="50292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36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" y="3008375"/>
            <a:ext cx="1078992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c095409e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01952" y="3008375"/>
            <a:ext cx="132588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众包服务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27832" y="3008375"/>
            <a:ext cx="6858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0.74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13632" y="3008375"/>
            <a:ext cx="66294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链接:https://t.me/xieyihaoautobo…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543032" y="3008375"/>
            <a:ext cx="150876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3337559"/>
            <a:ext cx="5029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37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" y="3337559"/>
            <a:ext cx="1078992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4f578ce4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01952" y="3337559"/>
            <a:ext cx="132588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工具交易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27832" y="3337559"/>
            <a:ext cx="6858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0.74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913632" y="3337559"/>
            <a:ext cx="66294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链接:https://t.me/xnby08bot；链接:h…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543032" y="3337559"/>
            <a:ext cx="150876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3666743"/>
            <a:ext cx="50292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38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2960" y="3666743"/>
            <a:ext cx="1078992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2a61dc9f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01952" y="3666743"/>
            <a:ext cx="132588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诈骗引流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27832" y="3666743"/>
            <a:ext cx="6858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0.50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13632" y="3666743"/>
            <a:ext cx="66294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该条摘要未展示可见抽取字段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543032" y="3666743"/>
            <a:ext cx="150876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3995927"/>
            <a:ext cx="5029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39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2960" y="3995927"/>
            <a:ext cx="1078992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d48741cf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901952" y="3995927"/>
            <a:ext cx="132588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诈骗引流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27832" y="3995927"/>
            <a:ext cx="6858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0.50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913632" y="3995927"/>
            <a:ext cx="66294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该条摘要未展示可见抽取字段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543032" y="3995927"/>
            <a:ext cx="150876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" y="4325112"/>
            <a:ext cx="50292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40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22960" y="4325112"/>
            <a:ext cx="1078992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0f762e8c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901952" y="4325112"/>
            <a:ext cx="132588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诈骗引流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27832" y="4325112"/>
            <a:ext cx="6858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0.50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913632" y="4325112"/>
            <a:ext cx="66294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该条摘要未展示可见抽取字段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543032" y="4325112"/>
            <a:ext cx="150876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0040" y="4654296"/>
            <a:ext cx="5029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41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22960" y="4654296"/>
            <a:ext cx="1078992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6118b5e2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901952" y="4654296"/>
            <a:ext cx="132588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诈骗引流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27832" y="4654296"/>
            <a:ext cx="6858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0.50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913632" y="4654296"/>
            <a:ext cx="66294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该条摘要未展示可见抽取字段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543032" y="4654296"/>
            <a:ext cx="150876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0040" y="4983480"/>
            <a:ext cx="50292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42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22960" y="4983480"/>
            <a:ext cx="1078992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6e5bc353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901952" y="4983480"/>
            <a:ext cx="132588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诈骗引流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227832" y="4983480"/>
            <a:ext cx="6858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0.50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913632" y="4983480"/>
            <a:ext cx="66294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该条摘要未展示可见抽取字段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543032" y="4983480"/>
            <a:ext cx="150876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0040" y="5312664"/>
            <a:ext cx="5029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43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2960" y="5312664"/>
            <a:ext cx="1078992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99306015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901952" y="5312664"/>
            <a:ext cx="132588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诈骗引流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227832" y="5312664"/>
            <a:ext cx="6858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0.50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913632" y="5312664"/>
            <a:ext cx="66294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该条摘要未展示可见抽取字段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543032" y="5312664"/>
            <a:ext cx="150876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20040" y="5641848"/>
            <a:ext cx="50292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44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22960" y="5641848"/>
            <a:ext cx="1078992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d1c69fa6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901952" y="5641848"/>
            <a:ext cx="132588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未知风险模式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227832" y="5641848"/>
            <a:ext cx="6858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0.55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913632" y="5641848"/>
            <a:ext cx="66294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该条摘要未展示可见抽取字段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543032" y="5641848"/>
            <a:ext cx="150876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20040" y="5971032"/>
            <a:ext cx="5029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45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22960" y="5971032"/>
            <a:ext cx="1078992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ffcc1160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901952" y="5971032"/>
            <a:ext cx="132588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诈骗引流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227832" y="5971032"/>
            <a:ext cx="6858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0.50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913632" y="5971032"/>
            <a:ext cx="66294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该条摘要未展示可见抽取字段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543032" y="5971032"/>
            <a:ext cx="150876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86868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YaHei"/>
              </a:rPr>
              <a:t>03 75 条数据逐条明细（4/5）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每行都是一个 trace_id；最后一列说明本条最终去向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37392" y="274320"/>
            <a:ext cx="640080" cy="256032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Microsoft YaHei"/>
              </a:rPr>
              <a:t>真实样例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56248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Microsoft YaHei"/>
              </a:rPr>
              <a:t>来源：data/acceptance_real_e2e_run_success.json；只展示可复查字段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5624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33271"/>
            <a:ext cx="502920" cy="329184"/>
          </a:xfrm>
          <a:prstGeom prst="rect">
            <a:avLst/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1">
                <a:solidFill>
                  <a:srgbClr val="2563EB"/>
                </a:solidFill>
                <a:latin typeface="Microsoft YaHei"/>
              </a:rP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033271"/>
            <a:ext cx="1078992" cy="329184"/>
          </a:xfrm>
          <a:prstGeom prst="rect">
            <a:avLst/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1">
                <a:solidFill>
                  <a:srgbClr val="2563EB"/>
                </a:solidFill>
                <a:latin typeface="Microsoft YaHei"/>
              </a:rPr>
              <a:t>追踪号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901952" y="1033271"/>
            <a:ext cx="1325880" cy="329184"/>
          </a:xfrm>
          <a:prstGeom prst="rect">
            <a:avLst/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1">
                <a:solidFill>
                  <a:srgbClr val="2563EB"/>
                </a:solidFill>
                <a:latin typeface="Microsoft YaHei"/>
              </a:rPr>
              <a:t>分类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27832" y="1033271"/>
            <a:ext cx="685800" cy="329184"/>
          </a:xfrm>
          <a:prstGeom prst="rect">
            <a:avLst/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1">
                <a:solidFill>
                  <a:srgbClr val="2563EB"/>
                </a:solidFill>
                <a:latin typeface="Microsoft YaHei"/>
              </a:rPr>
              <a:t>置信度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13632" y="1033271"/>
            <a:ext cx="6629400" cy="329184"/>
          </a:xfrm>
          <a:prstGeom prst="rect">
            <a:avLst/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1">
                <a:solidFill>
                  <a:srgbClr val="2563EB"/>
                </a:solidFill>
                <a:latin typeface="Microsoft YaHei"/>
              </a:rPr>
              <a:t>抽取到的部分信息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43032" y="1033271"/>
            <a:ext cx="1508760" cy="329184"/>
          </a:xfrm>
          <a:prstGeom prst="rect">
            <a:avLst/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1">
                <a:solidFill>
                  <a:srgbClr val="2563EB"/>
                </a:solidFill>
                <a:latin typeface="Microsoft YaHei"/>
              </a:rPr>
              <a:t>去向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362455"/>
            <a:ext cx="5029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46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1362455"/>
            <a:ext cx="1078992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87d11039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01952" y="1362455"/>
            <a:ext cx="132588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诈骗引流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27832" y="1362455"/>
            <a:ext cx="6858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13632" y="1362455"/>
            <a:ext cx="66294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该条摘要未展示可见抽取字段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43032" y="1362455"/>
            <a:ext cx="150876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1691639"/>
            <a:ext cx="50292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47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1691639"/>
            <a:ext cx="1078992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a4baef60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01952" y="1691639"/>
            <a:ext cx="132588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诈骗引流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27832" y="1691639"/>
            <a:ext cx="6858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0.50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13632" y="1691639"/>
            <a:ext cx="66294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该条摘要未展示可见抽取字段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43032" y="1691639"/>
            <a:ext cx="150876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020823"/>
            <a:ext cx="5029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48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2020823"/>
            <a:ext cx="1078992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2af3db00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01952" y="2020823"/>
            <a:ext cx="132588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诈骗引流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27832" y="2020823"/>
            <a:ext cx="6858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0.50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13632" y="2020823"/>
            <a:ext cx="66294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该条摘要未展示可见抽取字段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43032" y="2020823"/>
            <a:ext cx="150876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350007"/>
            <a:ext cx="50292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49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2350007"/>
            <a:ext cx="1078992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b49cba1e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01952" y="2350007"/>
            <a:ext cx="132588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诈骗引流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27832" y="2350007"/>
            <a:ext cx="6858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13632" y="2350007"/>
            <a:ext cx="66294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该条摘要未展示可见抽取字段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543032" y="2350007"/>
            <a:ext cx="150876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2679191"/>
            <a:ext cx="5029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50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" y="2679191"/>
            <a:ext cx="1078992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65869d26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01952" y="2679191"/>
            <a:ext cx="132588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未判定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27832" y="2679191"/>
            <a:ext cx="6858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913632" y="2679191"/>
            <a:ext cx="66294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该条摘要未展示可见抽取字段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543032" y="2679191"/>
            <a:ext cx="150876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3008375"/>
            <a:ext cx="50292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51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" y="3008375"/>
            <a:ext cx="1078992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49b2a61a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01952" y="3008375"/>
            <a:ext cx="132588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未判定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27832" y="3008375"/>
            <a:ext cx="6858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13632" y="3008375"/>
            <a:ext cx="66294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该条摘要未展示可见抽取字段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543032" y="3008375"/>
            <a:ext cx="150876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3337559"/>
            <a:ext cx="5029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52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" y="3337559"/>
            <a:ext cx="1078992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6bdf5f17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01952" y="3337559"/>
            <a:ext cx="132588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诈骗引流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27832" y="3337559"/>
            <a:ext cx="6858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0.50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913632" y="3337559"/>
            <a:ext cx="66294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该条摘要未展示可见抽取字段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543032" y="3337559"/>
            <a:ext cx="150876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3666743"/>
            <a:ext cx="50292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53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2960" y="3666743"/>
            <a:ext cx="1078992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4b06650e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01952" y="3666743"/>
            <a:ext cx="132588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诈骗引流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27832" y="3666743"/>
            <a:ext cx="6858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0.50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13632" y="3666743"/>
            <a:ext cx="66294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该条摘要未展示可见抽取字段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543032" y="3666743"/>
            <a:ext cx="150876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3995927"/>
            <a:ext cx="5029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54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2960" y="3995927"/>
            <a:ext cx="1078992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490f7e65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901952" y="3995927"/>
            <a:ext cx="132588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诈骗引流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27832" y="3995927"/>
            <a:ext cx="6858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0.50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913632" y="3995927"/>
            <a:ext cx="66294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该条摘要未展示可见抽取字段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543032" y="3995927"/>
            <a:ext cx="150876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" y="4325112"/>
            <a:ext cx="50292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55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22960" y="4325112"/>
            <a:ext cx="1078992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d7cb7da8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901952" y="4325112"/>
            <a:ext cx="132588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未判定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27832" y="4325112"/>
            <a:ext cx="6858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0.00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913632" y="4325112"/>
            <a:ext cx="66294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该条摘要未展示可见抽取字段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543032" y="4325112"/>
            <a:ext cx="150876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0040" y="4654296"/>
            <a:ext cx="5029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56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22960" y="4654296"/>
            <a:ext cx="1078992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e60b9166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901952" y="4654296"/>
            <a:ext cx="132588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诈骗引流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27832" y="4654296"/>
            <a:ext cx="6858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0.74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913632" y="4654296"/>
            <a:ext cx="66294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黑话:v；黑话:dy；链接:https://t.me/xxt…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543032" y="4654296"/>
            <a:ext cx="150876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0040" y="4983480"/>
            <a:ext cx="50292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57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22960" y="4983480"/>
            <a:ext cx="1078992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a0779275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901952" y="4983480"/>
            <a:ext cx="132588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诈骗引流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227832" y="4983480"/>
            <a:ext cx="6858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0.50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913632" y="4983480"/>
            <a:ext cx="66294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该条摘要未展示可见抽取字段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543032" y="4983480"/>
            <a:ext cx="150876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0040" y="5312664"/>
            <a:ext cx="5029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58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2960" y="5312664"/>
            <a:ext cx="1078992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d221424d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901952" y="5312664"/>
            <a:ext cx="132588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诈骗引流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227832" y="5312664"/>
            <a:ext cx="6858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0.50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913632" y="5312664"/>
            <a:ext cx="66294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该条摘要未展示可见抽取字段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543032" y="5312664"/>
            <a:ext cx="150876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20040" y="5641848"/>
            <a:ext cx="50292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59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22960" y="5641848"/>
            <a:ext cx="1078992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2ef9ec79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901952" y="5641848"/>
            <a:ext cx="132588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诈骗引流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227832" y="5641848"/>
            <a:ext cx="6858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0.50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913632" y="5641848"/>
            <a:ext cx="66294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该条摘要未展示可见抽取字段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543032" y="5641848"/>
            <a:ext cx="150876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20040" y="5971032"/>
            <a:ext cx="5029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60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22960" y="5971032"/>
            <a:ext cx="1078992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6235d0a8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901952" y="5971032"/>
            <a:ext cx="132588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诈骗引流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227832" y="5971032"/>
            <a:ext cx="6858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0.50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913632" y="5971032"/>
            <a:ext cx="66294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该条摘要未展示可见抽取字段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543032" y="5971032"/>
            <a:ext cx="150876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86868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YaHei"/>
              </a:rPr>
              <a:t>03 75 条数据逐条明细（5/5）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每行都是一个 trace_id；最后一列说明本条最终去向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37392" y="274320"/>
            <a:ext cx="640080" cy="256032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Microsoft YaHei"/>
              </a:rPr>
              <a:t>真实样例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56248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Microsoft YaHei"/>
              </a:rPr>
              <a:t>来源：data/acceptance_real_e2e_run_success.json；只展示可复查字段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5624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33271"/>
            <a:ext cx="502920" cy="329184"/>
          </a:xfrm>
          <a:prstGeom prst="rect">
            <a:avLst/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1">
                <a:solidFill>
                  <a:srgbClr val="2563EB"/>
                </a:solidFill>
                <a:latin typeface="Microsoft YaHei"/>
              </a:rP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033271"/>
            <a:ext cx="1078992" cy="329184"/>
          </a:xfrm>
          <a:prstGeom prst="rect">
            <a:avLst/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1">
                <a:solidFill>
                  <a:srgbClr val="2563EB"/>
                </a:solidFill>
                <a:latin typeface="Microsoft YaHei"/>
              </a:rPr>
              <a:t>追踪号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901952" y="1033271"/>
            <a:ext cx="1325880" cy="329184"/>
          </a:xfrm>
          <a:prstGeom prst="rect">
            <a:avLst/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1">
                <a:solidFill>
                  <a:srgbClr val="2563EB"/>
                </a:solidFill>
                <a:latin typeface="Microsoft YaHei"/>
              </a:rPr>
              <a:t>分类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27832" y="1033271"/>
            <a:ext cx="685800" cy="329184"/>
          </a:xfrm>
          <a:prstGeom prst="rect">
            <a:avLst/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1">
                <a:solidFill>
                  <a:srgbClr val="2563EB"/>
                </a:solidFill>
                <a:latin typeface="Microsoft YaHei"/>
              </a:rPr>
              <a:t>置信度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13632" y="1033271"/>
            <a:ext cx="6629400" cy="329184"/>
          </a:xfrm>
          <a:prstGeom prst="rect">
            <a:avLst/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1">
                <a:solidFill>
                  <a:srgbClr val="2563EB"/>
                </a:solidFill>
                <a:latin typeface="Microsoft YaHei"/>
              </a:rPr>
              <a:t>抽取到的部分信息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43032" y="1033271"/>
            <a:ext cx="1508760" cy="329184"/>
          </a:xfrm>
          <a:prstGeom prst="rect">
            <a:avLst/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1">
                <a:solidFill>
                  <a:srgbClr val="2563EB"/>
                </a:solidFill>
                <a:latin typeface="Microsoft YaHei"/>
              </a:rPr>
              <a:t>去向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362455"/>
            <a:ext cx="5029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61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1362455"/>
            <a:ext cx="1078992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dd732025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01952" y="1362455"/>
            <a:ext cx="132588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诈骗引流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27832" y="1362455"/>
            <a:ext cx="6858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13632" y="1362455"/>
            <a:ext cx="66294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该条摘要未展示可见抽取字段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43032" y="1362455"/>
            <a:ext cx="150876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1691639"/>
            <a:ext cx="50292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62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1691639"/>
            <a:ext cx="1078992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45ee2581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01952" y="1691639"/>
            <a:ext cx="132588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诈骗引流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27832" y="1691639"/>
            <a:ext cx="6858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0.50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13632" y="1691639"/>
            <a:ext cx="66294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该条摘要未展示可见抽取字段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43032" y="1691639"/>
            <a:ext cx="150876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020823"/>
            <a:ext cx="5029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63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2020823"/>
            <a:ext cx="1078992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aa5af116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01952" y="2020823"/>
            <a:ext cx="132588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诈骗引流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27832" y="2020823"/>
            <a:ext cx="6858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0.50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13632" y="2020823"/>
            <a:ext cx="66294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该条摘要未展示可见抽取字段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43032" y="2020823"/>
            <a:ext cx="150876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350007"/>
            <a:ext cx="50292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64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2350007"/>
            <a:ext cx="1078992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63bca5f9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01952" y="2350007"/>
            <a:ext cx="132588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未知风险模式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27832" y="2350007"/>
            <a:ext cx="6858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0.55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13632" y="2350007"/>
            <a:ext cx="66294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该条摘要未展示可见抽取字段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543032" y="2350007"/>
            <a:ext cx="150876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2679191"/>
            <a:ext cx="5029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65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" y="2679191"/>
            <a:ext cx="1078992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84f583f3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01952" y="2679191"/>
            <a:ext cx="132588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诈骗引流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27832" y="2679191"/>
            <a:ext cx="6858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0.50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913632" y="2679191"/>
            <a:ext cx="66294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该条摘要未展示可见抽取字段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543032" y="2679191"/>
            <a:ext cx="150876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3008375"/>
            <a:ext cx="50292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66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" y="3008375"/>
            <a:ext cx="1078992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d0173d03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01952" y="3008375"/>
            <a:ext cx="132588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正常业务白噪声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27832" y="3008375"/>
            <a:ext cx="6858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0.50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13632" y="3008375"/>
            <a:ext cx="66294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该条摘要未展示可见抽取字段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543032" y="3008375"/>
            <a:ext cx="150876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3337559"/>
            <a:ext cx="5029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67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" y="3337559"/>
            <a:ext cx="1078992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f69bc253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01952" y="3337559"/>
            <a:ext cx="132588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未知风险模式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27832" y="3337559"/>
            <a:ext cx="6858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0.47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913632" y="3337559"/>
            <a:ext cx="66294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链接:https://www.dianbaodaohang.…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543032" y="3337559"/>
            <a:ext cx="150876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3666743"/>
            <a:ext cx="50292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68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2960" y="3666743"/>
            <a:ext cx="1078992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4ff04976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01952" y="3666743"/>
            <a:ext cx="132588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未知风险模式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27832" y="3666743"/>
            <a:ext cx="6858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0.47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13632" y="3666743"/>
            <a:ext cx="66294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链接:https://www.tgbaike.com；联系方…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543032" y="3666743"/>
            <a:ext cx="150876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3995927"/>
            <a:ext cx="5029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69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2960" y="3995927"/>
            <a:ext cx="1078992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cd0f13e9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901952" y="3995927"/>
            <a:ext cx="132588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众包服务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27832" y="3995927"/>
            <a:ext cx="6858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0.74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913632" y="3995927"/>
            <a:ext cx="66294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链接:1tieba.baidu.com/p/93123656…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543032" y="3995927"/>
            <a:ext cx="150876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" y="4325112"/>
            <a:ext cx="50292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70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22960" y="4325112"/>
            <a:ext cx="1078992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e2b144c9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901952" y="4325112"/>
            <a:ext cx="132588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账号交易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27832" y="4325112"/>
            <a:ext cx="6858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0.74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913632" y="4325112"/>
            <a:ext cx="66294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链接:2tieba.baidu.com/p/90345587…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543032" y="4325112"/>
            <a:ext cx="150876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0040" y="4654296"/>
            <a:ext cx="5029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71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22960" y="4654296"/>
            <a:ext cx="1078992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a3aaf4a6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901952" y="4654296"/>
            <a:ext cx="132588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账号交易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27832" y="4654296"/>
            <a:ext cx="6858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0.74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913632" y="4654296"/>
            <a:ext cx="66294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页面片段:Image；链接:3tieba.baidu.com…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543032" y="4654296"/>
            <a:ext cx="150876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0040" y="4983480"/>
            <a:ext cx="50292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72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22960" y="4983480"/>
            <a:ext cx="1078992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79e35027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901952" y="4983480"/>
            <a:ext cx="132588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未知风险模式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227832" y="4983480"/>
            <a:ext cx="6858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0.47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913632" y="4983480"/>
            <a:ext cx="66294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该条摘要未展示可见抽取字段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543032" y="4983480"/>
            <a:ext cx="150876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0040" y="5312664"/>
            <a:ext cx="5029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73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2960" y="5312664"/>
            <a:ext cx="1078992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c2c78165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901952" y="5312664"/>
            <a:ext cx="132588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账号交易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227832" y="5312664"/>
            <a:ext cx="6858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0.74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913632" y="5312664"/>
            <a:ext cx="66294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链接:8tieba.baidu.com/p/90595089…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543032" y="5312664"/>
            <a:ext cx="150876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20040" y="5641848"/>
            <a:ext cx="50292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74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22960" y="5641848"/>
            <a:ext cx="1078992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ff80c1b6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901952" y="5641848"/>
            <a:ext cx="132588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账号交易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227832" y="5641848"/>
            <a:ext cx="6858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0.74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913632" y="5641848"/>
            <a:ext cx="662940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链接:9tieba.baidu.com/p/93179372…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543032" y="5641848"/>
            <a:ext cx="1508760" cy="329184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20040" y="5971032"/>
            <a:ext cx="5029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75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22960" y="5971032"/>
            <a:ext cx="1078992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89d1231f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901952" y="5971032"/>
            <a:ext cx="132588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620" b="0">
                <a:solidFill>
                  <a:srgbClr val="0F172A"/>
                </a:solidFill>
                <a:latin typeface="Microsoft YaHei"/>
              </a:rPr>
              <a:t>账号交易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227832" y="5971032"/>
            <a:ext cx="6858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0.74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913632" y="5971032"/>
            <a:ext cx="66294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链接:10tieba.baidu.com/p/7644419…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543032" y="5971032"/>
            <a:ext cx="150876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620" b="0">
                <a:solidFill>
                  <a:srgbClr val="0F172A"/>
                </a:solidFill>
                <a:latin typeface="Microsoft YaHei"/>
              </a:rPr>
              <a:t>复核候选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86868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YaHei"/>
              </a:rPr>
              <a:t>04 高质量线索 1/2 证据 1/6：1d808079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把一条数据在每一步的可见结果拆开讲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37392" y="274320"/>
            <a:ext cx="640080" cy="256032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Microsoft YaHei"/>
              </a:rPr>
              <a:t>真实样例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56248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Microsoft YaHei"/>
              </a:rPr>
              <a:t>来源：data/acceptance_real_e2e_run_success.json；只展示可复查字段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5624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78992"/>
            <a:ext cx="5349240" cy="11430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197864"/>
            <a:ext cx="713232" cy="256032"/>
          </a:xfrm>
          <a:prstGeom prst="roundRect">
            <a:avLst/>
          </a:prstGeom>
          <a:solidFill>
            <a:srgbClr val="2563EB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采集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517904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19" b="1">
                <a:solidFill>
                  <a:srgbClr val="0F172A"/>
                </a:solidFill>
                <a:latin typeface="Microsoft YaHei"/>
              </a:rPr>
              <a:t>acceptance_telegramnav_public_direct
ory
类型：IM
追踪号：1d808079-473e-484e-95b0-be66b5c69d9a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078992"/>
            <a:ext cx="5349240" cy="1143000"/>
          </a:xfrm>
          <a:prstGeom prst="roundRect">
            <a:avLst/>
          </a:prstGeom>
          <a:solidFill>
            <a:srgbClr val="FFF7ED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28231" y="1197864"/>
            <a:ext cx="713232" cy="256032"/>
          </a:xfrm>
          <a:prstGeom prst="roundRect">
            <a:avLst/>
          </a:prstGeom>
          <a:solidFill>
            <a:srgbClr val="F59E0B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清洗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1517904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19" b="0">
                <a:solidFill>
                  <a:srgbClr val="0F172A"/>
                </a:solidFill>
                <a:latin typeface="Microsoft YaHei"/>
              </a:rPr>
              <a:t>本次 JSON 未逐条暴露清洗原因
可见结果：本条进入后续探索和线索判断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96312"/>
            <a:ext cx="5349240" cy="1143000"/>
          </a:xfrm>
          <a:prstGeom prst="roundRect">
            <a:avLst/>
          </a:prstGeom>
          <a:solidFill>
            <a:srgbClr val="F0FDF4"/>
          </a:solidFill>
          <a:ln w="88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615184"/>
            <a:ext cx="713232" cy="256032"/>
          </a:xfrm>
          <a:prstGeom prst="roundRect">
            <a:avLst/>
          </a:prstGeom>
          <a:solidFill>
            <a:srgbClr val="16A34A"/>
          </a:solidFill>
          <a:ln w="88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分类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935224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19" b="1">
                <a:solidFill>
                  <a:srgbClr val="0F172A"/>
                </a:solidFill>
                <a:latin typeface="Microsoft YaHei"/>
              </a:rPr>
              <a:t>结果：诈骗引流
置信度：0.74
建议：需要人工复核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496312"/>
            <a:ext cx="5349240" cy="1143000"/>
          </a:xfrm>
          <a:prstGeom prst="roundRect">
            <a:avLst/>
          </a:prstGeom>
          <a:solidFill>
            <a:srgbClr val="F5F3FF"/>
          </a:solidFill>
          <a:ln w="889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28231" y="2615184"/>
            <a:ext cx="713232" cy="256032"/>
          </a:xfrm>
          <a:prstGeom prst="roundRect">
            <a:avLst/>
          </a:prstGeom>
          <a:solidFill>
            <a:srgbClr val="7C3AED"/>
          </a:solidFill>
          <a:ln w="889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抽取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2935224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19" b="0">
                <a:solidFill>
                  <a:srgbClr val="0F172A"/>
                </a:solidFill>
                <a:latin typeface="Microsoft YaHei"/>
              </a:rPr>
              <a:t>链接:https://telegramnav.github.io/ass
ets/im…；黑话:telegram；联系方式:nav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069080"/>
            <a:ext cx="109728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>探索摘要：样本进入受控探索：原分类=诈骗引流，疑似未知/低置信风险模式；局部相似样本 3 条；实体线索
url:https://telegramnav.github.io/assets/images/bt8-expand-dark.png,
slang_term:telegram, contact:nav。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257800"/>
            <a:ext cx="10972800" cy="566928"/>
          </a:xfrm>
          <a:prstGeom prst="roundRect">
            <a:avLst/>
          </a:prstGeom>
          <a:solidFill>
            <a:srgbClr val="F0FDF4"/>
          </a:solidFill>
          <a:ln w="88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Microsoft YaHei"/>
              </a:rPr>
              <a:t>最终去向：进入高质量线索证据链：clue_5c91a819eb32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86868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YaHei"/>
              </a:rPr>
              <a:t>04 高质量线索 1/2 证据 2/6：1e194754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把一条数据在每一步的可见结果拆开讲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37392" y="274320"/>
            <a:ext cx="640080" cy="256032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Microsoft YaHei"/>
              </a:rPr>
              <a:t>真实样例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56248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Microsoft YaHei"/>
              </a:rPr>
              <a:t>来源：data/acceptance_real_e2e_run_success.json；只展示可复查字段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5624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78992"/>
            <a:ext cx="5349240" cy="11430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197864"/>
            <a:ext cx="713232" cy="256032"/>
          </a:xfrm>
          <a:prstGeom prst="roundRect">
            <a:avLst/>
          </a:prstGeom>
          <a:solidFill>
            <a:srgbClr val="2563EB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采集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517904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19" b="1">
                <a:solidFill>
                  <a:srgbClr val="0F172A"/>
                </a:solidFill>
                <a:latin typeface="Microsoft YaHei"/>
              </a:rPr>
              <a:t>acceptance_telegramnav_public_direct
ory
类型：IM
追踪号：1e194754-5316-4fb4-a5ae-41fdaec5bee4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078992"/>
            <a:ext cx="5349240" cy="1143000"/>
          </a:xfrm>
          <a:prstGeom prst="roundRect">
            <a:avLst/>
          </a:prstGeom>
          <a:solidFill>
            <a:srgbClr val="FFF7ED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28231" y="1197864"/>
            <a:ext cx="713232" cy="256032"/>
          </a:xfrm>
          <a:prstGeom prst="roundRect">
            <a:avLst/>
          </a:prstGeom>
          <a:solidFill>
            <a:srgbClr val="F59E0B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清洗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1517904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19" b="0">
                <a:solidFill>
                  <a:srgbClr val="0F172A"/>
                </a:solidFill>
                <a:latin typeface="Microsoft YaHei"/>
              </a:rPr>
              <a:t>本次 JSON 未逐条暴露清洗原因
可见结果：本条进入后续探索和线索判断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96312"/>
            <a:ext cx="5349240" cy="1143000"/>
          </a:xfrm>
          <a:prstGeom prst="roundRect">
            <a:avLst/>
          </a:prstGeom>
          <a:solidFill>
            <a:srgbClr val="F0FDF4"/>
          </a:solidFill>
          <a:ln w="88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615184"/>
            <a:ext cx="713232" cy="256032"/>
          </a:xfrm>
          <a:prstGeom prst="roundRect">
            <a:avLst/>
          </a:prstGeom>
          <a:solidFill>
            <a:srgbClr val="16A34A"/>
          </a:solidFill>
          <a:ln w="88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分类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935224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19" b="1">
                <a:solidFill>
                  <a:srgbClr val="0F172A"/>
                </a:solidFill>
                <a:latin typeface="Microsoft YaHei"/>
              </a:rPr>
              <a:t>结果：诈骗引流
置信度：0.74
建议：需要人工复核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496312"/>
            <a:ext cx="5349240" cy="1143000"/>
          </a:xfrm>
          <a:prstGeom prst="roundRect">
            <a:avLst/>
          </a:prstGeom>
          <a:solidFill>
            <a:srgbClr val="F5F3FF"/>
          </a:solidFill>
          <a:ln w="889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28231" y="2615184"/>
            <a:ext cx="713232" cy="256032"/>
          </a:xfrm>
          <a:prstGeom prst="roundRect">
            <a:avLst/>
          </a:prstGeom>
          <a:solidFill>
            <a:srgbClr val="7C3AED"/>
          </a:solidFill>
          <a:ln w="889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抽取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2935224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19" b="0">
                <a:solidFill>
                  <a:srgbClr val="0F172A"/>
                </a:solidFill>
                <a:latin typeface="Microsoft YaHei"/>
              </a:rPr>
              <a:t>链接:https://telegramnav.github.io/ass
ets/im…；链接:https://telegramnav.githu
b.io/assets/im…；黑话:telegram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069080"/>
            <a:ext cx="109728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>探索摘要：样本进入受控探索：原分类=诈骗引流，疑似未知/低置信风险模式；候选黑话“dy”；局部相似样本 3 条；实体线索
url:https://telegramnav.github.io/assets/images/favicon.png,
url:https://telegramnav.github.io/assets/images/favicon.png&gt;&lt;meta,…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257800"/>
            <a:ext cx="10972800" cy="566928"/>
          </a:xfrm>
          <a:prstGeom prst="roundRect">
            <a:avLst/>
          </a:prstGeom>
          <a:solidFill>
            <a:srgbClr val="F0FDF4"/>
          </a:solidFill>
          <a:ln w="88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Microsoft YaHei"/>
              </a:rPr>
              <a:t>最终去向：进入高质量线索证据链：clue_5c91a819eb32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86868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YaHei"/>
              </a:rPr>
              <a:t>04 高质量线索 1/2 证据 3/6：5e4937c6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把一条数据在每一步的可见结果拆开讲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37392" y="274320"/>
            <a:ext cx="640080" cy="256032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Microsoft YaHei"/>
              </a:rPr>
              <a:t>真实样例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56248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Microsoft YaHei"/>
              </a:rPr>
              <a:t>来源：data/acceptance_real_e2e_run_success.json；只展示可复查字段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5624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78992"/>
            <a:ext cx="5349240" cy="11430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197864"/>
            <a:ext cx="713232" cy="256032"/>
          </a:xfrm>
          <a:prstGeom prst="roundRect">
            <a:avLst/>
          </a:prstGeom>
          <a:solidFill>
            <a:srgbClr val="2563EB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采集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517904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19" b="1">
                <a:solidFill>
                  <a:srgbClr val="0F172A"/>
                </a:solidFill>
                <a:latin typeface="Microsoft YaHei"/>
              </a:rPr>
              <a:t>acceptance_telegramnav_public_direct
ory
类型：IM
追踪号：5e4937c6-9e68-49d4-88d5-3331ad676a94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078992"/>
            <a:ext cx="5349240" cy="1143000"/>
          </a:xfrm>
          <a:prstGeom prst="roundRect">
            <a:avLst/>
          </a:prstGeom>
          <a:solidFill>
            <a:srgbClr val="FFF7ED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28231" y="1197864"/>
            <a:ext cx="713232" cy="256032"/>
          </a:xfrm>
          <a:prstGeom prst="roundRect">
            <a:avLst/>
          </a:prstGeom>
          <a:solidFill>
            <a:srgbClr val="F59E0B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清洗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1517904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19" b="0">
                <a:solidFill>
                  <a:srgbClr val="0F172A"/>
                </a:solidFill>
                <a:latin typeface="Microsoft YaHei"/>
              </a:rPr>
              <a:t>本次 JSON 未逐条暴露清洗原因
可见结果：本条进入后续探索和线索判断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96312"/>
            <a:ext cx="5349240" cy="1143000"/>
          </a:xfrm>
          <a:prstGeom prst="roundRect">
            <a:avLst/>
          </a:prstGeom>
          <a:solidFill>
            <a:srgbClr val="F0FDF4"/>
          </a:solidFill>
          <a:ln w="88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615184"/>
            <a:ext cx="713232" cy="256032"/>
          </a:xfrm>
          <a:prstGeom prst="roundRect">
            <a:avLst/>
          </a:prstGeom>
          <a:solidFill>
            <a:srgbClr val="16A34A"/>
          </a:solidFill>
          <a:ln w="88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分类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935224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19" b="1">
                <a:solidFill>
                  <a:srgbClr val="0F172A"/>
                </a:solidFill>
                <a:latin typeface="Microsoft YaHei"/>
              </a:rPr>
              <a:t>结果：诈骗引流
置信度：0.74
建议：需要人工复核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496312"/>
            <a:ext cx="5349240" cy="1143000"/>
          </a:xfrm>
          <a:prstGeom prst="roundRect">
            <a:avLst/>
          </a:prstGeom>
          <a:solidFill>
            <a:srgbClr val="F5F3FF"/>
          </a:solidFill>
          <a:ln w="889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28231" y="2615184"/>
            <a:ext cx="713232" cy="256032"/>
          </a:xfrm>
          <a:prstGeom prst="roundRect">
            <a:avLst/>
          </a:prstGeom>
          <a:solidFill>
            <a:srgbClr val="7C3AED"/>
          </a:solidFill>
          <a:ln w="889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抽取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2935224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19" b="0">
                <a:solidFill>
                  <a:srgbClr val="0F172A"/>
                </a:solidFill>
                <a:latin typeface="Microsoft YaHei"/>
              </a:rPr>
              <a:t>链接:https://telegramnav.github.io/ass
ets/im…；黑话:telegram；联系方式:nav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069080"/>
            <a:ext cx="109728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>探索摘要：样本进入受控探索：原分类=诈骗引流，疑似未知/低置信风险模式；局部相似样本 3 条；实体线索
url:https://telegramnav.github.io/assets/images/bt.png, slang_term:telegram,
contact:nav。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257800"/>
            <a:ext cx="10972800" cy="566928"/>
          </a:xfrm>
          <a:prstGeom prst="roundRect">
            <a:avLst/>
          </a:prstGeom>
          <a:solidFill>
            <a:srgbClr val="F0FDF4"/>
          </a:solidFill>
          <a:ln w="88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Microsoft YaHei"/>
              </a:rPr>
              <a:t>最终去向：进入高质量线索证据链：clue_5c91a819eb32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86868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YaHei"/>
              </a:rPr>
              <a:t>04 高质量线索 1/2 证据 4/6：c86415b3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把一条数据在每一步的可见结果拆开讲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37392" y="274320"/>
            <a:ext cx="640080" cy="256032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Microsoft YaHei"/>
              </a:rPr>
              <a:t>真实样例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56248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Microsoft YaHei"/>
              </a:rPr>
              <a:t>来源：data/acceptance_real_e2e_run_success.json；只展示可复查字段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5624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78992"/>
            <a:ext cx="5349240" cy="11430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197864"/>
            <a:ext cx="713232" cy="256032"/>
          </a:xfrm>
          <a:prstGeom prst="roundRect">
            <a:avLst/>
          </a:prstGeom>
          <a:solidFill>
            <a:srgbClr val="2563EB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采集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517904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19" b="1">
                <a:solidFill>
                  <a:srgbClr val="0F172A"/>
                </a:solidFill>
                <a:latin typeface="Microsoft YaHei"/>
              </a:rPr>
              <a:t>acceptance_telegramnav_public_direct
ory
类型：IM
追踪号：c86415b3-2e71-4479-a31a-ef41716f7cb8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078992"/>
            <a:ext cx="5349240" cy="1143000"/>
          </a:xfrm>
          <a:prstGeom prst="roundRect">
            <a:avLst/>
          </a:prstGeom>
          <a:solidFill>
            <a:srgbClr val="FFF7ED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28231" y="1197864"/>
            <a:ext cx="713232" cy="256032"/>
          </a:xfrm>
          <a:prstGeom prst="roundRect">
            <a:avLst/>
          </a:prstGeom>
          <a:solidFill>
            <a:srgbClr val="F59E0B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清洗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1517904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19" b="0">
                <a:solidFill>
                  <a:srgbClr val="0F172A"/>
                </a:solidFill>
                <a:latin typeface="Microsoft YaHei"/>
              </a:rPr>
              <a:t>本次 JSON 未逐条暴露清洗原因
可见结果：本条进入后续探索和线索判断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96312"/>
            <a:ext cx="5349240" cy="1143000"/>
          </a:xfrm>
          <a:prstGeom prst="roundRect">
            <a:avLst/>
          </a:prstGeom>
          <a:solidFill>
            <a:srgbClr val="F0FDF4"/>
          </a:solidFill>
          <a:ln w="88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615184"/>
            <a:ext cx="713232" cy="256032"/>
          </a:xfrm>
          <a:prstGeom prst="roundRect">
            <a:avLst/>
          </a:prstGeom>
          <a:solidFill>
            <a:srgbClr val="16A34A"/>
          </a:solidFill>
          <a:ln w="88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分类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935224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19" b="1">
                <a:solidFill>
                  <a:srgbClr val="0F172A"/>
                </a:solidFill>
                <a:latin typeface="Microsoft YaHei"/>
              </a:rPr>
              <a:t>结果：诈骗引流
置信度：0.74
建议：需要人工复核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496312"/>
            <a:ext cx="5349240" cy="1143000"/>
          </a:xfrm>
          <a:prstGeom prst="roundRect">
            <a:avLst/>
          </a:prstGeom>
          <a:solidFill>
            <a:srgbClr val="F5F3FF"/>
          </a:solidFill>
          <a:ln w="889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28231" y="2615184"/>
            <a:ext cx="713232" cy="256032"/>
          </a:xfrm>
          <a:prstGeom prst="roundRect">
            <a:avLst/>
          </a:prstGeom>
          <a:solidFill>
            <a:srgbClr val="7C3AED"/>
          </a:solidFill>
          <a:ln w="889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抽取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2935224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19" b="0">
                <a:solidFill>
                  <a:srgbClr val="0F172A"/>
                </a:solidFill>
                <a:latin typeface="Microsoft YaHei"/>
              </a:rPr>
              <a:t>链接:https://telegramnav.github.io/ass
ets/im…；黑话:telegram；联系方式:nav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069080"/>
            <a:ext cx="109728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>探索摘要：样本进入受控探索：原分类=诈骗引流，疑似未知/低置信风险模式；局部相似样本 3 条；实体线索
url:https://telegramnav.github.io/assets/images/bt.png, slang_term:telegram,
contact:nav。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257800"/>
            <a:ext cx="10972800" cy="566928"/>
          </a:xfrm>
          <a:prstGeom prst="roundRect">
            <a:avLst/>
          </a:prstGeom>
          <a:solidFill>
            <a:srgbClr val="F0FDF4"/>
          </a:solidFill>
          <a:ln w="88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Microsoft YaHei"/>
              </a:rPr>
              <a:t>最终去向：进入高质量线索证据链：clue_5c91a819eb32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86868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YaHei"/>
              </a:rPr>
              <a:t>04 高质量线索 1/2 证据 5/6：efdaa322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把一条数据在每一步的可见结果拆开讲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37392" y="274320"/>
            <a:ext cx="640080" cy="256032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Microsoft YaHei"/>
              </a:rPr>
              <a:t>真实样例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56248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Microsoft YaHei"/>
              </a:rPr>
              <a:t>来源：data/acceptance_real_e2e_run_success.json；只展示可复查字段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5624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78992"/>
            <a:ext cx="5349240" cy="11430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197864"/>
            <a:ext cx="713232" cy="256032"/>
          </a:xfrm>
          <a:prstGeom prst="roundRect">
            <a:avLst/>
          </a:prstGeom>
          <a:solidFill>
            <a:srgbClr val="2563EB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采集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517904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19" b="1">
                <a:solidFill>
                  <a:srgbClr val="0F172A"/>
                </a:solidFill>
                <a:latin typeface="Microsoft YaHei"/>
              </a:rPr>
              <a:t>acceptance_telegramnav_public_direct
ory
类型：IM
追踪号：efdaa322-0c54-411a-aaa0-870f49ea6e33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078992"/>
            <a:ext cx="5349240" cy="1143000"/>
          </a:xfrm>
          <a:prstGeom prst="roundRect">
            <a:avLst/>
          </a:prstGeom>
          <a:solidFill>
            <a:srgbClr val="FFF7ED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28231" y="1197864"/>
            <a:ext cx="713232" cy="256032"/>
          </a:xfrm>
          <a:prstGeom prst="roundRect">
            <a:avLst/>
          </a:prstGeom>
          <a:solidFill>
            <a:srgbClr val="F59E0B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清洗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1517904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19" b="0">
                <a:solidFill>
                  <a:srgbClr val="0F172A"/>
                </a:solidFill>
                <a:latin typeface="Microsoft YaHei"/>
              </a:rPr>
              <a:t>本次 JSON 未逐条暴露清洗原因
可见结果：本条进入后续探索和线索判断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96312"/>
            <a:ext cx="5349240" cy="1143000"/>
          </a:xfrm>
          <a:prstGeom prst="roundRect">
            <a:avLst/>
          </a:prstGeom>
          <a:solidFill>
            <a:srgbClr val="F0FDF4"/>
          </a:solidFill>
          <a:ln w="88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615184"/>
            <a:ext cx="713232" cy="256032"/>
          </a:xfrm>
          <a:prstGeom prst="roundRect">
            <a:avLst/>
          </a:prstGeom>
          <a:solidFill>
            <a:srgbClr val="16A34A"/>
          </a:solidFill>
          <a:ln w="88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分类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935224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19" b="1">
                <a:solidFill>
                  <a:srgbClr val="0F172A"/>
                </a:solidFill>
                <a:latin typeface="Microsoft YaHei"/>
              </a:rPr>
              <a:t>结果：诈骗引流
置信度：0.74
建议：需要人工复核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496312"/>
            <a:ext cx="5349240" cy="1143000"/>
          </a:xfrm>
          <a:prstGeom prst="roundRect">
            <a:avLst/>
          </a:prstGeom>
          <a:solidFill>
            <a:srgbClr val="F5F3FF"/>
          </a:solidFill>
          <a:ln w="889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28231" y="2615184"/>
            <a:ext cx="713232" cy="256032"/>
          </a:xfrm>
          <a:prstGeom prst="roundRect">
            <a:avLst/>
          </a:prstGeom>
          <a:solidFill>
            <a:srgbClr val="7C3AED"/>
          </a:solidFill>
          <a:ln w="889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抽取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2935224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19" b="0">
                <a:solidFill>
                  <a:srgbClr val="0F172A"/>
                </a:solidFill>
                <a:latin typeface="Microsoft YaHei"/>
              </a:rPr>
              <a:t>链接:https://telegramnav.github.io/ass
ets/im…；黑话:telegram；联系方式:nav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069080"/>
            <a:ext cx="109728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>探索摘要：样本进入受控探索：原分类=诈骗引流，疑似未知/低置信风险模式；局部相似样本 3 条；实体线索
url:https://telegramnav.github.io/assets/images/bt.png, slang_term:telegram,
contact:nav。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257800"/>
            <a:ext cx="10972800" cy="566928"/>
          </a:xfrm>
          <a:prstGeom prst="roundRect">
            <a:avLst/>
          </a:prstGeom>
          <a:solidFill>
            <a:srgbClr val="F0FDF4"/>
          </a:solidFill>
          <a:ln w="88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Microsoft YaHei"/>
              </a:rPr>
              <a:t>最终去向：进入高质量线索证据链：clue_5c91a819eb32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86868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YaHei"/>
              </a:rPr>
              <a:t>04 高质量线索 1/2 证据 6/6：f0e682da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把一条数据在每一步的可见结果拆开讲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37392" y="274320"/>
            <a:ext cx="640080" cy="256032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Microsoft YaHei"/>
              </a:rPr>
              <a:t>真实样例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56248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Microsoft YaHei"/>
              </a:rPr>
              <a:t>来源：data/acceptance_real_e2e_run_success.json；只展示可复查字段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5624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78992"/>
            <a:ext cx="5349240" cy="11430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197864"/>
            <a:ext cx="713232" cy="256032"/>
          </a:xfrm>
          <a:prstGeom prst="roundRect">
            <a:avLst/>
          </a:prstGeom>
          <a:solidFill>
            <a:srgbClr val="2563EB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采集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517904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19" b="1">
                <a:solidFill>
                  <a:srgbClr val="0F172A"/>
                </a:solidFill>
                <a:latin typeface="Microsoft YaHei"/>
              </a:rPr>
              <a:t>acceptance_telegramnav_public_direct
ory
类型：IM
追踪号：f0e682da-612c-487a-be9b-d159b84a0002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078992"/>
            <a:ext cx="5349240" cy="1143000"/>
          </a:xfrm>
          <a:prstGeom prst="roundRect">
            <a:avLst/>
          </a:prstGeom>
          <a:solidFill>
            <a:srgbClr val="FFF7ED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28231" y="1197864"/>
            <a:ext cx="713232" cy="256032"/>
          </a:xfrm>
          <a:prstGeom prst="roundRect">
            <a:avLst/>
          </a:prstGeom>
          <a:solidFill>
            <a:srgbClr val="F59E0B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清洗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1517904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19" b="0">
                <a:solidFill>
                  <a:srgbClr val="0F172A"/>
                </a:solidFill>
                <a:latin typeface="Microsoft YaHei"/>
              </a:rPr>
              <a:t>本次 JSON 未逐条暴露清洗原因
可见结果：本条进入后续探索和线索判断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96312"/>
            <a:ext cx="5349240" cy="1143000"/>
          </a:xfrm>
          <a:prstGeom prst="roundRect">
            <a:avLst/>
          </a:prstGeom>
          <a:solidFill>
            <a:srgbClr val="F0FDF4"/>
          </a:solidFill>
          <a:ln w="88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615184"/>
            <a:ext cx="713232" cy="256032"/>
          </a:xfrm>
          <a:prstGeom prst="roundRect">
            <a:avLst/>
          </a:prstGeom>
          <a:solidFill>
            <a:srgbClr val="16A34A"/>
          </a:solidFill>
          <a:ln w="88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分类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935224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19" b="1">
                <a:solidFill>
                  <a:srgbClr val="0F172A"/>
                </a:solidFill>
                <a:latin typeface="Microsoft YaHei"/>
              </a:rPr>
              <a:t>结果：诈骗引流
置信度：0.74
建议：需要人工复核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496312"/>
            <a:ext cx="5349240" cy="1143000"/>
          </a:xfrm>
          <a:prstGeom prst="roundRect">
            <a:avLst/>
          </a:prstGeom>
          <a:solidFill>
            <a:srgbClr val="F5F3FF"/>
          </a:solidFill>
          <a:ln w="889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28231" y="2615184"/>
            <a:ext cx="713232" cy="256032"/>
          </a:xfrm>
          <a:prstGeom prst="roundRect">
            <a:avLst/>
          </a:prstGeom>
          <a:solidFill>
            <a:srgbClr val="7C3AED"/>
          </a:solidFill>
          <a:ln w="889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抽取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2935224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19" b="0">
                <a:solidFill>
                  <a:srgbClr val="0F172A"/>
                </a:solidFill>
                <a:latin typeface="Microsoft YaHei"/>
              </a:rPr>
              <a:t>黑话:v；黑话:Telegram；链接:https://telegram
nav.github.io/assets/im…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069080"/>
            <a:ext cx="109728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>探索摘要：样本进入受控探索：原分类=诈骗引流，疑似未知/低置信风险模式；局部相似样本 3 条；实体线索 slang_term:v, slang_term:Telegram,
url:https://telegramnav.github.io/assets/images/bt.png。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257800"/>
            <a:ext cx="10972800" cy="566928"/>
          </a:xfrm>
          <a:prstGeom prst="roundRect">
            <a:avLst/>
          </a:prstGeom>
          <a:solidFill>
            <a:srgbClr val="F0FDF4"/>
          </a:solidFill>
          <a:ln w="88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Microsoft YaHei"/>
              </a:rPr>
              <a:t>最终去向：进入高质量线索证据链：clue_5c91a819eb32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86868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YaHei"/>
              </a:rPr>
              <a:t>05 候选线索 1/2 如何由证据合成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规则和边界一起展示，避免把模型判断说成事实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37392" y="274320"/>
            <a:ext cx="640080" cy="256032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Microsoft YaHei"/>
              </a:rPr>
              <a:t>真实样例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56248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Microsoft YaHei"/>
              </a:rPr>
              <a:t>来源：data/acceptance_real_e2e_run_success.json；只展示可复查字段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5624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03320" y="1234440"/>
            <a:ext cx="4754880" cy="1005840"/>
          </a:xfrm>
          <a:prstGeom prst="roundRect">
            <a:avLst/>
          </a:prstGeom>
          <a:solidFill>
            <a:srgbClr val="F0FDF4"/>
          </a:solidFill>
          <a:ln w="88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Microsoft YaHei"/>
              </a:rPr>
              <a:t>nav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051560"/>
            <a:ext cx="2743200" cy="7132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050" b="1">
                <a:solidFill>
                  <a:srgbClr val="0F172A"/>
                </a:solidFill>
                <a:latin typeface="Microsoft YaHei"/>
              </a:rPr>
              <a:t>1d808079
诈骗引流 / 0.74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1051560"/>
            <a:ext cx="2743200" cy="7132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050" b="1">
                <a:solidFill>
                  <a:srgbClr val="0F172A"/>
                </a:solidFill>
                <a:latin typeface="Microsoft YaHei"/>
              </a:rPr>
              <a:t>1e194754
诈骗引流 / 0.74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14600"/>
            <a:ext cx="2743200" cy="7132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050" b="1">
                <a:solidFill>
                  <a:srgbClr val="0F172A"/>
                </a:solidFill>
                <a:latin typeface="Microsoft YaHei"/>
              </a:rPr>
              <a:t>5e4937c6
诈骗引流 / 0.74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2514600"/>
            <a:ext cx="2743200" cy="7132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050" b="1">
                <a:solidFill>
                  <a:srgbClr val="0F172A"/>
                </a:solidFill>
                <a:latin typeface="Microsoft YaHei"/>
              </a:rPr>
              <a:t>c86415b3
诈骗引流 / 0.74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2743200" cy="7132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050" b="1">
                <a:solidFill>
                  <a:srgbClr val="0F172A"/>
                </a:solidFill>
                <a:latin typeface="Microsoft YaHei"/>
              </a:rPr>
              <a:t>efdaa322
诈骗引流 / 0.74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3977639"/>
            <a:ext cx="2743200" cy="7132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050" b="1">
                <a:solidFill>
                  <a:srgbClr val="0F172A"/>
                </a:solidFill>
                <a:latin typeface="Microsoft YaHei"/>
              </a:rPr>
              <a:t>f0e682da
诈骗引流 / 0.74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5532120"/>
            <a:ext cx="10241280" cy="566928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Microsoft YaHei"/>
              </a:rPr>
              <a:t>复核边界：当前主要证明高频共享联系方式/模板重复，尚未直接证明接码、群控脚本或账号交易服务。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86868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YaHei"/>
              </a:rPr>
              <a:t>06 线索 1/2 大模型精炼：只提示复核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这页展示最终文字和复核理由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37392" y="274320"/>
            <a:ext cx="640080" cy="256032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Microsoft YaHei"/>
              </a:rPr>
              <a:t>真实样例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56248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Microsoft YaHei"/>
              </a:rPr>
              <a:t>来源：data/acceptance_real_e2e_run_success.json；只展示可复查字段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5624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051560"/>
            <a:ext cx="10972800" cy="1005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Microsoft YaHei"/>
              </a:rPr>
              <a:t>该线索为48小时内Telegram公开目录中同一联系方式重复出现至少3次的共享接触类线索，关联6条证据溯源ID，当前标注风险类别为诈骗引流，未明确关联接码、群控脚本、账号交易等
目标采集风险要素，实体字段仅为无明确业务语义的nav标识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2651760" cy="777240"/>
          </a:xfrm>
          <a:prstGeom prst="roundRect">
            <a:avLst/>
          </a:prstGeom>
          <a:solidFill>
            <a:srgbClr val="FFF7ED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Microsoft YaHei"/>
              </a:rPr>
              <a:t>置信度变化
-0.12 → 0.86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3320" y="2331720"/>
            <a:ext cx="2651760" cy="777240"/>
          </a:xfrm>
          <a:prstGeom prst="roundRect">
            <a:avLst/>
          </a:prstGeom>
          <a:solidFill>
            <a:srgbClr val="FEF2F2"/>
          </a:solidFill>
          <a:ln w="889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400" b="1">
                <a:solidFill>
                  <a:srgbClr val="DC2626"/>
                </a:solidFill>
                <a:latin typeface="Microsoft YaHei"/>
              </a:rPr>
              <a:t>复核要求
需要人工复核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2331720"/>
            <a:ext cx="4526280" cy="77724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Microsoft YaHei"/>
              </a:rPr>
              <a:t>线索号
clue_5c91a819eb32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703320"/>
            <a:ext cx="329184" cy="329184"/>
          </a:xfrm>
          <a:prstGeom prst="roundRect">
            <a:avLst/>
          </a:prstGeom>
          <a:solidFill>
            <a:srgbClr val="2563EB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34440" y="3657600"/>
            <a:ext cx="10058400" cy="42062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919" b="0">
                <a:solidFill>
                  <a:srgbClr val="0F172A"/>
                </a:solidFill>
                <a:latin typeface="Microsoft YaHei"/>
              </a:rPr>
              <a:t>原线索实体信息缺失有效风险属性，未匹配本次采集指定的接码、群控、账号交易类核心关键词，风险类别标注为诈骗引流与本次采集目标匹配度较低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233672"/>
            <a:ext cx="329184" cy="329184"/>
          </a:xfrm>
          <a:prstGeom prst="roundRect">
            <a:avLst/>
          </a:prstGeom>
          <a:solidFill>
            <a:srgbClr val="2563EB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34440" y="4187952"/>
            <a:ext cx="10058400" cy="42062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919" b="0">
                <a:solidFill>
                  <a:srgbClr val="0F172A"/>
                </a:solidFill>
                <a:latin typeface="Microsoft YaHei"/>
              </a:rPr>
              <a:t>需人工核验该重复出现的联系方式是否实际属于接码、黑灰产账号交易相关资源，排除正常公共导航类联系方式的误判情况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86868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YaHei"/>
              </a:rPr>
              <a:t>04 高质量线索 2/2 证据 1/3：1aa211e8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把一条数据在每一步的可见结果拆开讲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37392" y="274320"/>
            <a:ext cx="640080" cy="256032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Microsoft YaHei"/>
              </a:rPr>
              <a:t>真实样例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56248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Microsoft YaHei"/>
              </a:rPr>
              <a:t>来源：data/acceptance_real_e2e_run_success.json；只展示可复查字段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5624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78992"/>
            <a:ext cx="5349240" cy="11430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197864"/>
            <a:ext cx="713232" cy="256032"/>
          </a:xfrm>
          <a:prstGeom prst="roundRect">
            <a:avLst/>
          </a:prstGeom>
          <a:solidFill>
            <a:srgbClr val="2563EB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采集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517904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19" b="1">
                <a:solidFill>
                  <a:srgbClr val="0F172A"/>
                </a:solidFill>
                <a:latin typeface="Microsoft YaHei"/>
              </a:rPr>
              <a:t>acceptance_tieba_public_search
类型：Forum
追踪号：1aa211e8-e753-4af1-ab35-a9dab7417d8a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078992"/>
            <a:ext cx="5349240" cy="1143000"/>
          </a:xfrm>
          <a:prstGeom prst="roundRect">
            <a:avLst/>
          </a:prstGeom>
          <a:solidFill>
            <a:srgbClr val="FFF7ED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28231" y="1197864"/>
            <a:ext cx="713232" cy="256032"/>
          </a:xfrm>
          <a:prstGeom prst="roundRect">
            <a:avLst/>
          </a:prstGeom>
          <a:solidFill>
            <a:srgbClr val="F59E0B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清洗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1517904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19" b="0">
                <a:solidFill>
                  <a:srgbClr val="0F172A"/>
                </a:solidFill>
                <a:latin typeface="Microsoft YaHei"/>
              </a:rPr>
              <a:t>本次 JSON 未逐条暴露清洗原因
可见结果：本条进入后续探索和线索判断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96312"/>
            <a:ext cx="5349240" cy="1143000"/>
          </a:xfrm>
          <a:prstGeom prst="roundRect">
            <a:avLst/>
          </a:prstGeom>
          <a:solidFill>
            <a:srgbClr val="F0FDF4"/>
          </a:solidFill>
          <a:ln w="88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615184"/>
            <a:ext cx="713232" cy="256032"/>
          </a:xfrm>
          <a:prstGeom prst="roundRect">
            <a:avLst/>
          </a:prstGeom>
          <a:solidFill>
            <a:srgbClr val="16A34A"/>
          </a:solidFill>
          <a:ln w="88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分类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935224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19" b="1">
                <a:solidFill>
                  <a:srgbClr val="0F172A"/>
                </a:solidFill>
                <a:latin typeface="Microsoft YaHei"/>
              </a:rPr>
              <a:t>结果：工具交易
置信度：0.74
建议：需要人工复核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496312"/>
            <a:ext cx="5349240" cy="1143000"/>
          </a:xfrm>
          <a:prstGeom prst="roundRect">
            <a:avLst/>
          </a:prstGeom>
          <a:solidFill>
            <a:srgbClr val="F5F3FF"/>
          </a:solidFill>
          <a:ln w="889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28231" y="2615184"/>
            <a:ext cx="713232" cy="256032"/>
          </a:xfrm>
          <a:prstGeom prst="roundRect">
            <a:avLst/>
          </a:prstGeom>
          <a:solidFill>
            <a:srgbClr val="7C3AED"/>
          </a:solidFill>
          <a:ln w="889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抽取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2935224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19" b="0">
                <a:solidFill>
                  <a:srgbClr val="0F172A"/>
                </a:solidFill>
                <a:latin typeface="Microsoft YaHei"/>
              </a:rPr>
              <a:t>工具名:脚本；链接:10tieba.baidu.com/p/720906
4254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069080"/>
            <a:ext cx="109728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>探索摘要：样本进入受控探索：原分类=工具交易，疑似未知/低置信风险模式；局部相似样本 3 条；实体线索 tool_name:脚本,
url:10tieba.baidu.com/p/7209064254。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257800"/>
            <a:ext cx="10972800" cy="566928"/>
          </a:xfrm>
          <a:prstGeom prst="roundRect">
            <a:avLst/>
          </a:prstGeom>
          <a:solidFill>
            <a:srgbClr val="F0FDF4"/>
          </a:solidFill>
          <a:ln w="88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Microsoft YaHei"/>
              </a:rPr>
              <a:t>最终去向：进入高质量线索证据链：clue_065e2cd8a6a9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86868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YaHei"/>
              </a:rPr>
              <a:t>04 高质量线索 2/2 证据 2/3：9bf8c3ea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把一条数据在每一步的可见结果拆开讲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37392" y="274320"/>
            <a:ext cx="640080" cy="256032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Microsoft YaHei"/>
              </a:rPr>
              <a:t>真实样例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56248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Microsoft YaHei"/>
              </a:rPr>
              <a:t>来源：data/acceptance_real_e2e_run_success.json；只展示可复查字段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5624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78992"/>
            <a:ext cx="5349240" cy="11430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197864"/>
            <a:ext cx="713232" cy="256032"/>
          </a:xfrm>
          <a:prstGeom prst="roundRect">
            <a:avLst/>
          </a:prstGeom>
          <a:solidFill>
            <a:srgbClr val="2563EB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采集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517904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19" b="1">
                <a:solidFill>
                  <a:srgbClr val="0F172A"/>
                </a:solidFill>
                <a:latin typeface="Microsoft YaHei"/>
              </a:rPr>
              <a:t>acceptance_tieba_public_search
类型：Forum
追踪号：9bf8c3ea-54c3-43d1-bb6a-4870d6b451c8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078992"/>
            <a:ext cx="5349240" cy="1143000"/>
          </a:xfrm>
          <a:prstGeom prst="roundRect">
            <a:avLst/>
          </a:prstGeom>
          <a:solidFill>
            <a:srgbClr val="FFF7ED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28231" y="1197864"/>
            <a:ext cx="713232" cy="256032"/>
          </a:xfrm>
          <a:prstGeom prst="roundRect">
            <a:avLst/>
          </a:prstGeom>
          <a:solidFill>
            <a:srgbClr val="F59E0B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清洗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1517904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19" b="0">
                <a:solidFill>
                  <a:srgbClr val="0F172A"/>
                </a:solidFill>
                <a:latin typeface="Microsoft YaHei"/>
              </a:rPr>
              <a:t>本次 JSON 未逐条暴露清洗原因
可见结果：本条进入后续探索和线索判断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96312"/>
            <a:ext cx="5349240" cy="1143000"/>
          </a:xfrm>
          <a:prstGeom prst="roundRect">
            <a:avLst/>
          </a:prstGeom>
          <a:solidFill>
            <a:srgbClr val="F0FDF4"/>
          </a:solidFill>
          <a:ln w="88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615184"/>
            <a:ext cx="713232" cy="256032"/>
          </a:xfrm>
          <a:prstGeom prst="roundRect">
            <a:avLst/>
          </a:prstGeom>
          <a:solidFill>
            <a:srgbClr val="16A34A"/>
          </a:solidFill>
          <a:ln w="88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分类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935224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19" b="1">
                <a:solidFill>
                  <a:srgbClr val="0F172A"/>
                </a:solidFill>
                <a:latin typeface="Microsoft YaHei"/>
              </a:rPr>
              <a:t>结果：工具交易
置信度：0.74
建议：需要人工复核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496312"/>
            <a:ext cx="5349240" cy="1143000"/>
          </a:xfrm>
          <a:prstGeom prst="roundRect">
            <a:avLst/>
          </a:prstGeom>
          <a:solidFill>
            <a:srgbClr val="F5F3FF"/>
          </a:solidFill>
          <a:ln w="889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28231" y="2615184"/>
            <a:ext cx="713232" cy="256032"/>
          </a:xfrm>
          <a:prstGeom prst="roundRect">
            <a:avLst/>
          </a:prstGeom>
          <a:solidFill>
            <a:srgbClr val="7C3AED"/>
          </a:solidFill>
          <a:ln w="889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抽取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2935224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19" b="0">
                <a:solidFill>
                  <a:srgbClr val="0F172A"/>
                </a:solidFill>
                <a:latin typeface="Microsoft YaHei"/>
              </a:rPr>
              <a:t>工具名:脚本；链接:10tieba.baidu.com/p/720906
4254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069080"/>
            <a:ext cx="109728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>探索摘要：样本进入受控探索：原分类=工具交易，疑似未知/低置信风险模式；局部相似样本 3 条；实体线索 tool_name:脚本,
url:10tieba.baidu.com/p/7209064254。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257800"/>
            <a:ext cx="10972800" cy="566928"/>
          </a:xfrm>
          <a:prstGeom prst="roundRect">
            <a:avLst/>
          </a:prstGeom>
          <a:solidFill>
            <a:srgbClr val="F0FDF4"/>
          </a:solidFill>
          <a:ln w="88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Microsoft YaHei"/>
              </a:rPr>
              <a:t>最终去向：进入高质量线索证据链：clue_065e2cd8a6a9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86868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YaHei"/>
              </a:rPr>
              <a:t>04 高质量线索 2/2 证据 3/3：f8e1402a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把一条数据在每一步的可见结果拆开讲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37392" y="274320"/>
            <a:ext cx="640080" cy="256032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Microsoft YaHei"/>
              </a:rPr>
              <a:t>真实样例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56248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Microsoft YaHei"/>
              </a:rPr>
              <a:t>来源：data/acceptance_real_e2e_run_success.json；只展示可复查字段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5624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78992"/>
            <a:ext cx="5349240" cy="11430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197864"/>
            <a:ext cx="713232" cy="256032"/>
          </a:xfrm>
          <a:prstGeom prst="roundRect">
            <a:avLst/>
          </a:prstGeom>
          <a:solidFill>
            <a:srgbClr val="2563EB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采集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517904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19" b="1">
                <a:solidFill>
                  <a:srgbClr val="0F172A"/>
                </a:solidFill>
                <a:latin typeface="Microsoft YaHei"/>
              </a:rPr>
              <a:t>acceptance_tieba_public_search
类型：Forum
追踪号：f8e1402a-6dc2-4493-8ec3-a46e1ca8a149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078992"/>
            <a:ext cx="5349240" cy="1143000"/>
          </a:xfrm>
          <a:prstGeom prst="roundRect">
            <a:avLst/>
          </a:prstGeom>
          <a:solidFill>
            <a:srgbClr val="FFF7ED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28231" y="1197864"/>
            <a:ext cx="713232" cy="256032"/>
          </a:xfrm>
          <a:prstGeom prst="roundRect">
            <a:avLst/>
          </a:prstGeom>
          <a:solidFill>
            <a:srgbClr val="F59E0B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清洗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1517904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19" b="0">
                <a:solidFill>
                  <a:srgbClr val="0F172A"/>
                </a:solidFill>
                <a:latin typeface="Microsoft YaHei"/>
              </a:rPr>
              <a:t>本次 JSON 未逐条暴露清洗原因
可见结果：本条进入后续探索和线索判断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96312"/>
            <a:ext cx="5349240" cy="1143000"/>
          </a:xfrm>
          <a:prstGeom prst="roundRect">
            <a:avLst/>
          </a:prstGeom>
          <a:solidFill>
            <a:srgbClr val="F0FDF4"/>
          </a:solidFill>
          <a:ln w="88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615184"/>
            <a:ext cx="713232" cy="256032"/>
          </a:xfrm>
          <a:prstGeom prst="roundRect">
            <a:avLst/>
          </a:prstGeom>
          <a:solidFill>
            <a:srgbClr val="16A34A"/>
          </a:solidFill>
          <a:ln w="88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分类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935224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19" b="1">
                <a:solidFill>
                  <a:srgbClr val="0F172A"/>
                </a:solidFill>
                <a:latin typeface="Microsoft YaHei"/>
              </a:rPr>
              <a:t>结果：工具交易
置信度：0.74
建议：需要人工复核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496312"/>
            <a:ext cx="5349240" cy="1143000"/>
          </a:xfrm>
          <a:prstGeom prst="roundRect">
            <a:avLst/>
          </a:prstGeom>
          <a:solidFill>
            <a:srgbClr val="F5F3FF"/>
          </a:solidFill>
          <a:ln w="889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28231" y="2615184"/>
            <a:ext cx="713232" cy="256032"/>
          </a:xfrm>
          <a:prstGeom prst="roundRect">
            <a:avLst/>
          </a:prstGeom>
          <a:solidFill>
            <a:srgbClr val="7C3AED"/>
          </a:solidFill>
          <a:ln w="889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抽取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2935224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19" b="0">
                <a:solidFill>
                  <a:srgbClr val="0F172A"/>
                </a:solidFill>
                <a:latin typeface="Microsoft YaHei"/>
              </a:rPr>
              <a:t>工具名:脚本；链接:10tieba.baidu.com/p/720906
4254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069080"/>
            <a:ext cx="109728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>探索摘要：样本进入受控探索：原分类=工具交易，疑似未知/低置信风险模式；局部相似样本 3 条；实体线索 tool_name:脚本,
url:10tieba.baidu.com/p/7209064254。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257800"/>
            <a:ext cx="10972800" cy="566928"/>
          </a:xfrm>
          <a:prstGeom prst="roundRect">
            <a:avLst/>
          </a:prstGeom>
          <a:solidFill>
            <a:srgbClr val="F0FDF4"/>
          </a:solidFill>
          <a:ln w="88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Microsoft YaHei"/>
              </a:rPr>
              <a:t>最终去向：进入高质量线索证据链：clue_065e2cd8a6a9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86868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YaHei"/>
              </a:rPr>
              <a:t>05 候选线索 2/2 如何由证据合成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规则和边界一起展示，避免把模型判断说成事实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37392" y="274320"/>
            <a:ext cx="640080" cy="256032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Microsoft YaHei"/>
              </a:rPr>
              <a:t>真实样例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56248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Microsoft YaHei"/>
              </a:rPr>
              <a:t>来源：data/acceptance_real_e2e_run_success.json；只展示可复查字段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5624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03320" y="1234440"/>
            <a:ext cx="4754880" cy="1005840"/>
          </a:xfrm>
          <a:prstGeom prst="roundRect">
            <a:avLst/>
          </a:prstGeom>
          <a:solidFill>
            <a:srgbClr val="F0FDF4"/>
          </a:solidFill>
          <a:ln w="88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Microsoft YaHei"/>
              </a:rPr>
              <a:t>交易所扫货脚本使用风险及封禁情况百度贴吧image10tiebaba
iducomp7209064254我去年暑假无聊的时候搞过一会挂了2
个月吧封过两次一次一小时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051560"/>
            <a:ext cx="2743200" cy="7132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050" b="1">
                <a:solidFill>
                  <a:srgbClr val="0F172A"/>
                </a:solidFill>
                <a:latin typeface="Microsoft YaHei"/>
              </a:rPr>
              <a:t>1aa211e8
工具交易 / 0.74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1051560"/>
            <a:ext cx="2743200" cy="7132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050" b="1">
                <a:solidFill>
                  <a:srgbClr val="0F172A"/>
                </a:solidFill>
                <a:latin typeface="Microsoft YaHei"/>
              </a:rPr>
              <a:t>9bf8c3ea
工具交易 / 0.74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14600"/>
            <a:ext cx="2743200" cy="7132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050" b="1">
                <a:solidFill>
                  <a:srgbClr val="0F172A"/>
                </a:solidFill>
                <a:latin typeface="Microsoft YaHei"/>
              </a:rPr>
              <a:t>f8e1402a
工具交易 / 0.74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5532120"/>
            <a:ext cx="10241280" cy="566928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Microsoft YaHei"/>
              </a:rPr>
              <a:t>复核边界：命中脚本/工具交易相关证据链，但仍需人工复核排除教程、经验讨论或误报语境。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86868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YaHei"/>
              </a:rPr>
              <a:t>06 线索 2/2 大模型精炼：只提示复核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这页展示最终文字和复核理由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37392" y="274320"/>
            <a:ext cx="640080" cy="256032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Microsoft YaHei"/>
              </a:rPr>
              <a:t>真实样例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56248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Microsoft YaHei"/>
              </a:rPr>
              <a:t>来源：data/acceptance_real_e2e_run_success.json；只展示可复查字段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5624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051560"/>
            <a:ext cx="10972800" cy="1005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Microsoft YaHei"/>
              </a:rPr>
              <a:t>该线索来自百度贴吧公开搜索渠道，为去重后相同模板内容重复出现至少3次的高频模板类线索，内容提及用户曾使用交易所扫货脚本运行2个月期间遭遇2次平台封禁，关联3条证据溯源ID，属于
工具交易类风险范畴，命中本次采集指定的脚本类风险关键词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2651760" cy="777240"/>
          </a:xfrm>
          <a:prstGeom prst="roundRect">
            <a:avLst/>
          </a:prstGeom>
          <a:solidFill>
            <a:srgbClr val="FFF7ED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Microsoft YaHei"/>
              </a:rPr>
              <a:t>置信度变化
0.05 → 0.95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3320" y="2331720"/>
            <a:ext cx="2651760" cy="777240"/>
          </a:xfrm>
          <a:prstGeom prst="roundRect">
            <a:avLst/>
          </a:prstGeom>
          <a:solidFill>
            <a:srgbClr val="FEF2F2"/>
          </a:solidFill>
          <a:ln w="889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400" b="1">
                <a:solidFill>
                  <a:srgbClr val="DC2626"/>
                </a:solidFill>
                <a:latin typeface="Microsoft YaHei"/>
              </a:rPr>
              <a:t>复核要求
需要人工复核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2331720"/>
            <a:ext cx="4526280" cy="77724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Microsoft YaHei"/>
              </a:rPr>
              <a:t>线索号
clue_065e2cd8a6a9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703320"/>
            <a:ext cx="329184" cy="329184"/>
          </a:xfrm>
          <a:prstGeom prst="roundRect">
            <a:avLst/>
          </a:prstGeom>
          <a:solidFill>
            <a:srgbClr val="2563EB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34440" y="3657600"/>
            <a:ext cx="10058400" cy="42062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919" b="0">
                <a:solidFill>
                  <a:srgbClr val="0F172A"/>
                </a:solidFill>
                <a:latin typeface="Microsoft YaHei"/>
              </a:rPr>
              <a:t>线索内容明确命中本次采集规则中「脚本」「工具交易」核心关键词，完全处于目标风险类型覆盖范围内，原置信度可小幅上调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233672"/>
            <a:ext cx="329184" cy="329184"/>
          </a:xfrm>
          <a:prstGeom prst="roundRect">
            <a:avLst/>
          </a:prstGeom>
          <a:solidFill>
            <a:srgbClr val="2563EB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34440" y="4187952"/>
            <a:ext cx="10058400" cy="42062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919" b="0">
                <a:solidFill>
                  <a:srgbClr val="0F172A"/>
                </a:solidFill>
                <a:latin typeface="Microsoft YaHei"/>
              </a:rPr>
              <a:t>需人工核验该贴吧内容不属于曝光、辟谣、警方通报等排除类范畴，确认交易所扫货脚本是否属于违规群控类工具，补充完善全链路证据链节点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86868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YaHei"/>
              </a:rPr>
              <a:t>07 验收边界：能证明什么，不能证明什么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把“证据”和“结论”分开，避免夸大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37392" y="274320"/>
            <a:ext cx="640080" cy="256032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Microsoft YaHei"/>
              </a:rPr>
              <a:t>真实样例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56248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Microsoft YaHei"/>
              </a:rPr>
              <a:t>来源：data/acceptance_real_e2e_run_success.json；只展示可复查字段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5624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143000"/>
            <a:ext cx="5394960" cy="4160520"/>
          </a:xfrm>
          <a:prstGeom prst="roundRect">
            <a:avLst/>
          </a:prstGeom>
          <a:solidFill>
            <a:srgbClr val="F0FDF4"/>
          </a:solidFill>
          <a:ln w="88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17320"/>
            <a:ext cx="475488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>
                <a:solidFill>
                  <a:srgbClr val="16A34A"/>
                </a:solidFill>
                <a:latin typeface="Microsoft YaHei"/>
              </a:rPr>
              <a:t>这次可以证明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480060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Microsoft YaHei"/>
              </a:rPr>
              <a:t>✓ 公开合规来源真实联网成功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24328"/>
            <a:ext cx="480060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Microsoft YaHei"/>
              </a:rPr>
              <a:t>✓ 75 条样例都有追踪号和探索记录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191256"/>
            <a:ext cx="480060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Microsoft YaHei"/>
              </a:rPr>
              <a:t>✓ high_quality_count=2，目标 &gt;=2 已达成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758183"/>
            <a:ext cx="480060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Microsoft YaHei"/>
              </a:rPr>
              <a:t>✓ 系统主动给出人工复核建议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143000"/>
            <a:ext cx="5394960" cy="4160520"/>
          </a:xfrm>
          <a:prstGeom prst="roundRect">
            <a:avLst/>
          </a:prstGeom>
          <a:solidFill>
            <a:srgbClr val="FEF2F2"/>
          </a:solidFill>
          <a:ln w="889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417320"/>
            <a:ext cx="475488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>
                <a:solidFill>
                  <a:srgbClr val="DC2626"/>
                </a:solidFill>
                <a:latin typeface="Microsoft YaHei"/>
              </a:rPr>
              <a:t>这次不能证明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057400"/>
            <a:ext cx="48920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Microsoft YaHei"/>
              </a:rPr>
              <a:t>× 已人工确认黑灰产身份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624328"/>
            <a:ext cx="48920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Microsoft YaHei"/>
              </a:rPr>
              <a:t>× 覆盖私群或登录后页面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191256"/>
            <a:ext cx="48920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Microsoft YaHei"/>
              </a:rPr>
              <a:t>× 已达到生产级长期监控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758183"/>
            <a:ext cx="48920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Microsoft YaHei"/>
              </a:rPr>
              <a:t>× 当前 JSON 已保存每条原始全文和清洗原因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86868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YaHei"/>
              </a:rPr>
              <a:t>08 原始完整内容如何展示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当前验收运行未保存原文；历史同源复跑原文单独放入附录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37392" y="274320"/>
            <a:ext cx="640080" cy="256032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Microsoft YaHei"/>
              </a:rPr>
              <a:t>真实样例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56248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Microsoft YaHei"/>
              </a:rPr>
              <a:t>来源：data/acceptance_real_e2e_run_success.json；只展示可复查字段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5624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078992"/>
            <a:ext cx="5349240" cy="1143000"/>
          </a:xfrm>
          <a:prstGeom prst="roundRect">
            <a:avLst/>
          </a:prstGeom>
          <a:solidFill>
            <a:srgbClr val="FFF7ED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320" b="1">
                <a:solidFill>
                  <a:srgbClr val="F59E0B"/>
                </a:solidFill>
                <a:latin typeface="Microsoft YaHei"/>
              </a:rPr>
              <a:t>当前验收运行
保存了探索摘要、分类、抽取摘要和线索证据号；没有逐条 content_text。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078992"/>
            <a:ext cx="5349240" cy="1143000"/>
          </a:xfrm>
          <a:prstGeom prst="roundRect">
            <a:avLst/>
          </a:prstGeom>
          <a:solidFill>
            <a:srgbClr val="F0FDF4"/>
          </a:solidFill>
          <a:ln w="88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320" b="1">
                <a:solidFill>
                  <a:srgbClr val="16A34A"/>
                </a:solidFill>
                <a:latin typeface="Microsoft YaHei"/>
              </a:rPr>
              <a:t>历史同源复跑
重新访问同一公开来源和查询，得到 31 条原始完整行，全部写入 Markdown 附录。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743200"/>
            <a:ext cx="502920" cy="438912"/>
          </a:xfrm>
          <a:prstGeom prst="rect">
            <a:avLst/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720" b="1">
                <a:solidFill>
                  <a:srgbClr val="2563EB"/>
                </a:solidFill>
                <a:latin typeface="Microsoft YaHei"/>
              </a:rPr>
              <a:t>#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743200"/>
            <a:ext cx="1234440" cy="438912"/>
          </a:xfrm>
          <a:prstGeom prst="rect">
            <a:avLst/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720" b="1">
                <a:solidFill>
                  <a:srgbClr val="2563EB"/>
                </a:solidFill>
                <a:latin typeface="Microsoft YaHei"/>
              </a:rPr>
              <a:t>复跑编号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40280" y="2743200"/>
            <a:ext cx="1508760" cy="438912"/>
          </a:xfrm>
          <a:prstGeom prst="rect">
            <a:avLst/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720" b="1">
                <a:solidFill>
                  <a:srgbClr val="2563EB"/>
                </a:solidFill>
                <a:latin typeface="Microsoft YaHei"/>
              </a:rPr>
              <a:t>命中词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2743200"/>
            <a:ext cx="868680" cy="438912"/>
          </a:xfrm>
          <a:prstGeom prst="rect">
            <a:avLst/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720" b="1">
                <a:solidFill>
                  <a:srgbClr val="2563EB"/>
                </a:solidFill>
                <a:latin typeface="Microsoft YaHei"/>
              </a:rPr>
              <a:t>长度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2743200"/>
            <a:ext cx="8366760" cy="438912"/>
          </a:xfrm>
          <a:prstGeom prst="rect">
            <a:avLst/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720" b="1">
                <a:solidFill>
                  <a:srgbClr val="2563EB"/>
                </a:solidFill>
                <a:latin typeface="Microsoft YaHei"/>
              </a:rPr>
              <a:t>原文开头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182112"/>
            <a:ext cx="50292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720" b="0">
                <a:solidFill>
                  <a:srgbClr val="0F172A"/>
                </a:solidFill>
                <a:latin typeface="Microsoft YaHei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182112"/>
            <a:ext cx="123444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720" b="0">
                <a:solidFill>
                  <a:srgbClr val="0F172A"/>
                </a:solidFill>
                <a:latin typeface="Microsoft YaHei"/>
              </a:rPr>
              <a:t>rerun-raw-001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40280" y="3182112"/>
            <a:ext cx="150876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720" b="0">
                <a:solidFill>
                  <a:srgbClr val="0F172A"/>
                </a:solidFill>
                <a:latin typeface="Microsoft YaHei"/>
              </a:rPr>
              <a:t>TG,Telegram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3182112"/>
            <a:ext cx="86868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720" b="0">
                <a:solidFill>
                  <a:srgbClr val="0F172A"/>
                </a:solidFill>
                <a:latin typeface="Microsoft YaHei"/>
              </a:rPr>
              <a:t>360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3182112"/>
            <a:ext cx="836676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720" b="0">
                <a:solidFill>
                  <a:srgbClr val="0F172A"/>
                </a:solidFill>
                <a:latin typeface="Microsoft YaHei"/>
              </a:rPr>
              <a:t>&lt;!doctype html&gt;&lt;html lang=zh-CN&gt;&lt;head&gt;&lt;meta
name=generator content="Hugo 0.140.2"&gt;&lt;meta…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621024"/>
            <a:ext cx="502920" cy="43891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720" b="0">
                <a:solidFill>
                  <a:srgbClr val="0F172A"/>
                </a:solidFill>
                <a:latin typeface="Microsoft YaHei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3621024"/>
            <a:ext cx="1234440" cy="43891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720" b="0">
                <a:solidFill>
                  <a:srgbClr val="0F172A"/>
                </a:solidFill>
                <a:latin typeface="Microsoft YaHei"/>
              </a:rPr>
              <a:t>rerun-raw-002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40280" y="3621024"/>
            <a:ext cx="1508760" cy="43891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720" b="0">
                <a:solidFill>
                  <a:srgbClr val="0F172A"/>
                </a:solidFill>
                <a:latin typeface="Microsoft YaHei"/>
              </a:rPr>
              <a:t>TG,Telegram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49039" y="3621024"/>
            <a:ext cx="868680" cy="43891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720" b="0">
                <a:solidFill>
                  <a:srgbClr val="0F172A"/>
                </a:solidFill>
                <a:latin typeface="Microsoft YaHei"/>
              </a:rPr>
              <a:t>3481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17720" y="3621024"/>
            <a:ext cx="8366760" cy="43891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720" b="0">
                <a:solidFill>
                  <a:srgbClr val="0F172A"/>
                </a:solidFill>
                <a:latin typeface="Microsoft YaHei"/>
              </a:rPr>
              <a:t>&lt;link rel="shortcut icon" href=https://teleg
ramnav.github.io/assets/images/favicon.png&gt;&lt;…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059935"/>
            <a:ext cx="50292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720" b="0">
                <a:solidFill>
                  <a:srgbClr val="0F172A"/>
                </a:solidFill>
                <a:latin typeface="Microsoft YaHei"/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4059935"/>
            <a:ext cx="123444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720" b="0">
                <a:solidFill>
                  <a:srgbClr val="0F172A"/>
                </a:solidFill>
                <a:latin typeface="Microsoft YaHei"/>
              </a:rPr>
              <a:t>rerun-raw-003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40280" y="4059935"/>
            <a:ext cx="150876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720" b="0">
                <a:solidFill>
                  <a:srgbClr val="0F172A"/>
                </a:solidFill>
                <a:latin typeface="Microsoft YaHei"/>
              </a:rPr>
              <a:t>TG,Telegram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49039" y="4059935"/>
            <a:ext cx="86868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720" b="0">
                <a:solidFill>
                  <a:srgbClr val="0F172A"/>
                </a:solidFill>
                <a:latin typeface="Microsoft YaHei"/>
              </a:rPr>
              <a:t>142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20" y="4059935"/>
            <a:ext cx="836676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720" b="0">
                <a:solidFill>
                  <a:srgbClr val="0F172A"/>
                </a:solidFill>
                <a:latin typeface="Microsoft YaHei"/>
              </a:rPr>
              <a:t>&lt;img src=https://telegramnav.github.io/asset
s/images/bt8-expand-dark.png height=40…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498848"/>
            <a:ext cx="502920" cy="43891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720" b="0">
                <a:solidFill>
                  <a:srgbClr val="0F172A"/>
                </a:solidFill>
                <a:latin typeface="Microsoft YaHei"/>
              </a:rPr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" y="4498848"/>
            <a:ext cx="1234440" cy="43891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720" b="0">
                <a:solidFill>
                  <a:srgbClr val="0F172A"/>
                </a:solidFill>
                <a:latin typeface="Microsoft YaHei"/>
              </a:rPr>
              <a:t>rerun-raw-004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40280" y="4498848"/>
            <a:ext cx="1508760" cy="43891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720" b="0">
                <a:solidFill>
                  <a:srgbClr val="0F172A"/>
                </a:solidFill>
                <a:latin typeface="Microsoft YaHei"/>
              </a:rPr>
              <a:t>TG,Telegram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49039" y="4498848"/>
            <a:ext cx="868680" cy="43891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720" b="0">
                <a:solidFill>
                  <a:srgbClr val="0F172A"/>
                </a:solidFill>
                <a:latin typeface="Microsoft YaHei"/>
              </a:rPr>
              <a:t>154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17720" y="4498848"/>
            <a:ext cx="8366760" cy="43891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720" b="0">
                <a:solidFill>
                  <a:srgbClr val="0F172A"/>
                </a:solidFill>
                <a:latin typeface="Microsoft YaHei"/>
              </a:rPr>
              <a:t>&lt;/a&gt;&lt;a href class=logo-collapsed&gt;&lt;img src=ht
tps://telegramnav.github.io/assets/images/bt…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937760"/>
            <a:ext cx="50292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720" b="0">
                <a:solidFill>
                  <a:srgbClr val="0F172A"/>
                </a:solidFill>
                <a:latin typeface="Microsoft YaHei"/>
              </a:rPr>
              <a:t>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5840" y="4937760"/>
            <a:ext cx="123444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720" b="0">
                <a:solidFill>
                  <a:srgbClr val="0F172A"/>
                </a:solidFill>
                <a:latin typeface="Microsoft YaHei"/>
              </a:rPr>
              <a:t>rerun-raw-005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40280" y="4937760"/>
            <a:ext cx="150876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720" b="0">
                <a:solidFill>
                  <a:srgbClr val="0F172A"/>
                </a:solidFill>
                <a:latin typeface="Microsoft YaHei"/>
              </a:rPr>
              <a:t>TG,Telegram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49039" y="4937760"/>
            <a:ext cx="86868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720" b="0">
                <a:solidFill>
                  <a:srgbClr val="0F172A"/>
                </a:solidFill>
                <a:latin typeface="Microsoft YaHei"/>
              </a:rPr>
              <a:t>373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17720" y="4937760"/>
            <a:ext cx="836676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720" b="0">
                <a:solidFill>
                  <a:srgbClr val="0F172A"/>
                </a:solidFill>
                <a:latin typeface="Microsoft YaHei"/>
              </a:rPr>
              <a:t>&lt;img src=https://telegramnav.github.io/asset
s/images/bt.png height=40 class="logo-dark…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376672"/>
            <a:ext cx="502920" cy="43891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720" b="0">
                <a:solidFill>
                  <a:srgbClr val="0F172A"/>
                </a:solidFill>
                <a:latin typeface="Microsoft YaHei"/>
              </a:rPr>
              <a:t>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5840" y="5376672"/>
            <a:ext cx="1234440" cy="43891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720" b="0">
                <a:solidFill>
                  <a:srgbClr val="0F172A"/>
                </a:solidFill>
                <a:latin typeface="Microsoft YaHei"/>
              </a:rPr>
              <a:t>rerun-raw-006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40280" y="5376672"/>
            <a:ext cx="1508760" cy="43891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720" b="0">
                <a:solidFill>
                  <a:srgbClr val="0F172A"/>
                </a:solidFill>
                <a:latin typeface="Microsoft YaHei"/>
              </a:rPr>
              <a:t>Telegram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49039" y="5376672"/>
            <a:ext cx="868680" cy="43891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720" b="0">
                <a:solidFill>
                  <a:srgbClr val="0F172A"/>
                </a:solidFill>
                <a:latin typeface="Microsoft YaHei"/>
              </a:rPr>
              <a:t>21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17720" y="5376672"/>
            <a:ext cx="8366760" cy="43891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720" b="0">
                <a:solidFill>
                  <a:srgbClr val="0F172A"/>
                </a:solidFill>
                <a:latin typeface="Microsoft YaHei"/>
              </a:rPr>
              <a:t>&lt;span&gt;Telegram&lt;/span&gt;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8680" y="5806440"/>
            <a:ext cx="10515600" cy="384048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Microsoft YaHei"/>
              </a:rPr>
              <a:t>完整原文不塞满 PPT，已放入：docs/答辩验收材料/BlackAgent_原始数据完整内容.md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86868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YaHei"/>
              </a:rPr>
              <a:t>09 答辩时按文件复查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最后只给复查路径，不回到总览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37392" y="274320"/>
            <a:ext cx="640080" cy="256032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Microsoft YaHei"/>
              </a:rPr>
              <a:t>真实样例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56248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Microsoft YaHei"/>
              </a:rPr>
              <a:t>来源：data/acceptance_real_e2e_run_success.json；只展示可复查字段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5624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502920" cy="502920"/>
          </a:xfrm>
          <a:prstGeom prst="roundRect">
            <a:avLst/>
          </a:prstGeom>
          <a:solidFill>
            <a:srgbClr val="2563EB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325880"/>
            <a:ext cx="4343400" cy="50292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Microsoft YaHei"/>
              </a:rPr>
              <a:t>完整运行结果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325880"/>
            <a:ext cx="5257800" cy="502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Microsoft YaHei"/>
              </a:rPr>
              <a:t>data/acceptance_real_e2e_run_success.json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984248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Microsoft YaHei"/>
              </a:rPr>
              <a:t>可查 75 条探索假设、2 条高质量候选线索、采集批次和大模型调用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423160"/>
            <a:ext cx="502920" cy="502920"/>
          </a:xfrm>
          <a:prstGeom prst="roundRect">
            <a:avLst/>
          </a:prstGeom>
          <a:solidFill>
            <a:srgbClr val="2563EB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3040" y="2423160"/>
            <a:ext cx="4343400" cy="50292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Microsoft YaHei"/>
              </a:rPr>
              <a:t>逐条明细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2423160"/>
            <a:ext cx="5257800" cy="502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Microsoft YaHei"/>
              </a:rPr>
              <a:t>docs/答辩验收材料/BlackAgent_真实样例逐步明细.md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081528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Microsoft YaHei"/>
              </a:rPr>
              <a:t>可按序号查看每一条数据的分类、抽取和去向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520439"/>
            <a:ext cx="502920" cy="502920"/>
          </a:xfrm>
          <a:prstGeom prst="roundRect">
            <a:avLst/>
          </a:prstGeom>
          <a:solidFill>
            <a:srgbClr val="2563EB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3520439"/>
            <a:ext cx="4343400" cy="50292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Microsoft YaHei"/>
              </a:rPr>
              <a:t>原始全文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3520439"/>
            <a:ext cx="5257800" cy="502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Microsoft YaHei"/>
              </a:rPr>
              <a:t>docs/答辩验收材料/BlackAgent_原始数据完整内容.md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178807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Microsoft YaHei"/>
              </a:rPr>
              <a:t>可查看历史同源复跑得到的每条原始完整内容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617720"/>
            <a:ext cx="502920" cy="502920"/>
          </a:xfrm>
          <a:prstGeom prst="roundRect">
            <a:avLst/>
          </a:prstGeom>
          <a:solidFill>
            <a:srgbClr val="2563EB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63040" y="4617720"/>
            <a:ext cx="4343400" cy="50292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Microsoft YaHei"/>
              </a:rPr>
              <a:t>验收报告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4617720"/>
            <a:ext cx="5257800" cy="502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Microsoft YaHei"/>
              </a:rPr>
              <a:t>docs/答辩验收材料/BlackAgent_验收报告.docx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276088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Microsoft YaHei"/>
              </a:rPr>
              <a:t>可作为提交版验收材料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" y="5577840"/>
            <a:ext cx="10332720" cy="502920"/>
          </a:xfrm>
          <a:prstGeom prst="roundRect">
            <a:avLst/>
          </a:prstGeom>
          <a:solidFill>
            <a:srgbClr val="F0FDF4"/>
          </a:solidFill>
          <a:ln w="88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/>
            <a:r>
              <a:rPr sz="1500" b="1">
                <a:solidFill>
                  <a:srgbClr val="16A34A"/>
                </a:solidFill>
                <a:latin typeface="Microsoft YaHei"/>
              </a:rPr>
              <a:t>一句话结论：这套材料展示的是“真实样例如何一步步变成人工复核候选线索”。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