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b1d7a937c049df" /><Relationship Type="http://schemas.openxmlformats.org/officeDocument/2006/relationships/extended-properties" Target="/docProps/app.xml" Id="R491dd438a6f246a1" /><Relationship Type="http://schemas.openxmlformats.org/officeDocument/2006/relationships/officeDocument" Target="/ppt/presentation.xml" Id="R89058da391a540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782ed3bf3042b8"/>
  </p:sldMasterIdLst>
  <p:notesMasterIdLst>
    <p:notesMasterId xmlns:r="http://schemas.openxmlformats.org/officeDocument/2006/relationships" r:id="R0a7c3376de8e4305"/>
  </p:notesMasterIdLst>
  <p:sldIdLst>
    <p:sldId xmlns:r="http://schemas.openxmlformats.org/officeDocument/2006/relationships" id="256" r:id="Rf34f12a60e9e4f79"/>
    <p:sldId xmlns:r="http://schemas.openxmlformats.org/officeDocument/2006/relationships" id="257" r:id="R676b23844f994998"/>
    <p:sldId xmlns:r="http://schemas.openxmlformats.org/officeDocument/2006/relationships" id="258" r:id="Rba8867a73d7d4309"/>
    <p:sldId xmlns:r="http://schemas.openxmlformats.org/officeDocument/2006/relationships" id="259" r:id="Rcf4a4ecd85ca471e"/>
    <p:sldId xmlns:r="http://schemas.openxmlformats.org/officeDocument/2006/relationships" id="260" r:id="R3e8577e6b63b4a08"/>
    <p:sldId xmlns:r="http://schemas.openxmlformats.org/officeDocument/2006/relationships" id="261" r:id="Rb0b970c33c41478e"/>
    <p:sldId xmlns:r="http://schemas.openxmlformats.org/officeDocument/2006/relationships" id="262" r:id="R4d8921a3411b410e"/>
    <p:sldId xmlns:r="http://schemas.openxmlformats.org/officeDocument/2006/relationships" id="263" r:id="R4f0941e010d540f9"/>
    <p:sldId xmlns:r="http://schemas.openxmlformats.org/officeDocument/2006/relationships" id="264" r:id="Rdb9a25d1b1c3449d"/>
    <p:sldId xmlns:r="http://schemas.openxmlformats.org/officeDocument/2006/relationships" id="265" r:id="Reb581dbb79ed4188"/>
    <p:sldId xmlns:r="http://schemas.openxmlformats.org/officeDocument/2006/relationships" id="266" r:id="Rde028d47f1af4efc"/>
    <p:sldId xmlns:r="http://schemas.openxmlformats.org/officeDocument/2006/relationships" id="267" r:id="Rf6d2885af677412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782ed3bf3042b8" /><Relationship Type="http://schemas.openxmlformats.org/officeDocument/2006/relationships/theme" Target="/ppt/theme/theme1.xml" Id="Rd6d1e3f8ff484fae" /><Relationship Type="http://schemas.openxmlformats.org/officeDocument/2006/relationships/notesMaster" Target="/ppt/notesMasters/notesMaster1.xml" Id="R0a7c3376de8e4305" /><Relationship Type="http://schemas.openxmlformats.org/officeDocument/2006/relationships/presProps" Target="/ppt/presProps.xml" Id="R33743f5723824e73" /><Relationship Type="http://schemas.openxmlformats.org/officeDocument/2006/relationships/viewProps" Target="/ppt/viewProps.xml" Id="R8c6168afcc914661" /><Relationship Type="http://schemas.openxmlformats.org/officeDocument/2006/relationships/tableStyles" Target="/ppt/tableStyles.xml" Id="R23a17d4e0e2940fa" /><Relationship Type="http://schemas.openxmlformats.org/officeDocument/2006/relationships/slide" Target="/ppt/slides/slide1.xml" Id="Rf34f12a60e9e4f79" /><Relationship Type="http://schemas.openxmlformats.org/officeDocument/2006/relationships/slide" Target="/ppt/slides/slide2.xml" Id="R676b23844f994998" /><Relationship Type="http://schemas.openxmlformats.org/officeDocument/2006/relationships/slide" Target="/ppt/slides/slide3.xml" Id="Rba8867a73d7d4309" /><Relationship Type="http://schemas.openxmlformats.org/officeDocument/2006/relationships/slide" Target="/ppt/slides/slide4.xml" Id="Rcf4a4ecd85ca471e" /><Relationship Type="http://schemas.openxmlformats.org/officeDocument/2006/relationships/slide" Target="/ppt/slides/slide5.xml" Id="R3e8577e6b63b4a08" /><Relationship Type="http://schemas.openxmlformats.org/officeDocument/2006/relationships/slide" Target="/ppt/slides/slide6.xml" Id="Rb0b970c33c41478e" /><Relationship Type="http://schemas.openxmlformats.org/officeDocument/2006/relationships/slide" Target="/ppt/slides/slide7.xml" Id="R4d8921a3411b410e" /><Relationship Type="http://schemas.openxmlformats.org/officeDocument/2006/relationships/slide" Target="/ppt/slides/slide8.xml" Id="R4f0941e010d540f9" /><Relationship Type="http://schemas.openxmlformats.org/officeDocument/2006/relationships/slide" Target="/ppt/slides/slide9.xml" Id="Rdb9a25d1b1c3449d" /><Relationship Type="http://schemas.openxmlformats.org/officeDocument/2006/relationships/slide" Target="/ppt/slides/slide10.xml" Id="Reb581dbb79ed4188" /><Relationship Type="http://schemas.openxmlformats.org/officeDocument/2006/relationships/slide" Target="/ppt/slides/slide11.xml" Id="Rde028d47f1af4efc" /><Relationship Type="http://schemas.openxmlformats.org/officeDocument/2006/relationships/slide" Target="/ppt/slides/slide12.xml" Id="Rf6d2885af67741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c0bf940c3c247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ce76999b0f430b" /><Relationship Type="http://schemas.openxmlformats.org/officeDocument/2006/relationships/notesMaster" Target="/ppt/notesMasters/notesMaster1.xml" Id="R3d69b59e7b93409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6803624b204f30" /><Relationship Type="http://schemas.openxmlformats.org/officeDocument/2006/relationships/notesMaster" Target="/ppt/notesMasters/notesMaster1.xml" Id="Rb4c4176a530447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0d6bf30b354105" /><Relationship Type="http://schemas.openxmlformats.org/officeDocument/2006/relationships/notesMaster" Target="/ppt/notesMasters/notesMaster1.xml" Id="R8ff96b2eef524b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0bd07ce8464af5" /><Relationship Type="http://schemas.openxmlformats.org/officeDocument/2006/relationships/notesMaster" Target="/ppt/notesMasters/notesMaster1.xml" Id="R6c08ba758fde4a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5c42c46f964cfe" /><Relationship Type="http://schemas.openxmlformats.org/officeDocument/2006/relationships/notesMaster" Target="/ppt/notesMasters/notesMaster1.xml" Id="R3978c2fe48f449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494c46e0f4c4b76" /><Relationship Type="http://schemas.openxmlformats.org/officeDocument/2006/relationships/notesMaster" Target="/ppt/notesMasters/notesMaster1.xml" Id="R02da10c7776541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432f0fe2fb40a7" /><Relationship Type="http://schemas.openxmlformats.org/officeDocument/2006/relationships/notesMaster" Target="/ppt/notesMasters/notesMaster1.xml" Id="R4c9effaa62ee4c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fa72d502054c03" /><Relationship Type="http://schemas.openxmlformats.org/officeDocument/2006/relationships/notesMaster" Target="/ppt/notesMasters/notesMaster1.xml" Id="R31160e8fc41945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bb9eeacf2fe46f2" /><Relationship Type="http://schemas.openxmlformats.org/officeDocument/2006/relationships/notesMaster" Target="/ppt/notesMasters/notesMaster1.xml" Id="R26cc748a129748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6f8bfc6ca2c4ebf" /><Relationship Type="http://schemas.openxmlformats.org/officeDocument/2006/relationships/notesMaster" Target="/ppt/notesMasters/notesMaster1.xml" Id="Rb8638498c4c542c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162f76f6aa441ad" /><Relationship Type="http://schemas.openxmlformats.org/officeDocument/2006/relationships/notesMaster" Target="/ppt/notesMasters/notesMaster1.xml" Id="Re2ee7082eb6c44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63b59e014ae4dea" /><Relationship Type="http://schemas.openxmlformats.org/officeDocument/2006/relationships/notesMaster" Target="/ppt/notesMasters/notesMaster1.xml" Id="R8fecb6fe9f5249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b7c19f227648d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90dd415c55544a8" /><Relationship Type="http://schemas.openxmlformats.org/officeDocument/2006/relationships/slideLayout" Target="/ppt/slideLayouts/slideLayout2.xml" Id="R2771ecaab441469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71ecaab44146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3dd41747774ded" /><Relationship Type="http://schemas.openxmlformats.org/officeDocument/2006/relationships/notesSlide" Target="/ppt/notesSlides/notesSlide1.xml" Id="R041b7a96329346b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a05a33c8bd4f7b" /><Relationship Type="http://schemas.openxmlformats.org/officeDocument/2006/relationships/notesSlide" Target="/ppt/notesSlides/notesSlide2.xml" Id="R1a3734253ba241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7ab95013574f9e" /><Relationship Type="http://schemas.openxmlformats.org/officeDocument/2006/relationships/notesSlide" Target="/ppt/notesSlides/notesSlide3.xml" Id="R233041886a0843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3e3d36cab243ba" /><Relationship Type="http://schemas.openxmlformats.org/officeDocument/2006/relationships/notesSlide" Target="/ppt/notesSlides/notesSlide4.xml" Id="Rf13d74cbc96e4c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361d1d94c443a6" /><Relationship Type="http://schemas.openxmlformats.org/officeDocument/2006/relationships/notesSlide" Target="/ppt/notesSlides/notesSlide5.xml" Id="R0ad0edbe45354a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92c16c73cc474c" /><Relationship Type="http://schemas.openxmlformats.org/officeDocument/2006/relationships/notesSlide" Target="/ppt/notesSlides/notesSlide6.xml" Id="R2e86df64ab7842f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ce52bc015e4b81" /><Relationship Type="http://schemas.openxmlformats.org/officeDocument/2006/relationships/notesSlide" Target="/ppt/notesSlides/notesSlide7.xml" Id="Rf21915d0959241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7bed456cca4f46" /><Relationship Type="http://schemas.openxmlformats.org/officeDocument/2006/relationships/notesSlide" Target="/ppt/notesSlides/notesSlide8.xml" Id="R3bbaddc72caf4a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96fac5aed34fb8" /><Relationship Type="http://schemas.openxmlformats.org/officeDocument/2006/relationships/notesSlide" Target="/ppt/notesSlides/notesSlide9.xml" Id="R213af5bff12345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4e0f46a7884598" /><Relationship Type="http://schemas.openxmlformats.org/officeDocument/2006/relationships/notesSlide" Target="/ppt/notesSlides/notesSlide10.xml" Id="R1f2eccbfc1844da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68a3c6e4b3413a" /><Relationship Type="http://schemas.openxmlformats.org/officeDocument/2006/relationships/notesSlide" Target="/ppt/notesSlides/notesSlide11.xml" Id="Rdfe629894c8f492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96c13c870242fa" /><Relationship Type="http://schemas.openxmlformats.org/officeDocument/2006/relationships/notesSlide" Target="/ppt/notesSlides/notesSlide12.xml" Id="Rab89cdcd6fff4cd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345E44-25E2-4EDC-B6EA-F06D808B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67DA85-12FF-4FBB-8794-ACFFF0E9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674AD6-873A-4AED-A492-CD61BDE1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95250" cy="678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0">
            <a:solidFill>
              <a:srgbClr val="16243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502E9A-8244-41F0-9DE6-8FABA9E02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B122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BB295-1D4F-4C21-9EA3-92D49B7A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56D0A-024C-497E-AD3D-96CE1020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D1B2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B472A5-FD8F-4EB2-A53C-6A4BA0FC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85800"/>
            <a:ext cx="1809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DEFENSE</a:t>
            </a:r>
          </a:p>
          <a:p xmlns:a="http://schemas.openxmlformats.org/drawingml/2006/main">
            <a:pPr algn="r">
              <a:defRPr sz="1275" b="1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ACCEPTANCE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D77FFA-65B5-45F5-8B03-86CABDA4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6858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BlackAgent 黑灰产情报分析 Agent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2E8F07-A967-4580-BF38-F9B4FD65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809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答辩与阶段验收材料｜阶段目标 · 核心挑战 · 可复核证据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7D88B7-2F17-4F31-B892-317ECEE6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6858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本地 CLI / in-process runtime + stdlib demo API；不夸大为生产公网服务。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7D3B36-CB5C-47B6-963A-58FE2078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638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7"/>
          </a:solidFill>
          <a:ln xmlns:a="http://schemas.openxmlformats.org/drawingml/2006/main" w="0">
            <a:solidFill>
              <a:srgbClr val="263B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E8D8D9-AD94-40CD-84BD-92F7B85B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EC720F-BE44-4BF2-A31D-B8949252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2076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788F8B-8DDF-4BB5-BF22-F259E095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课题阶段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CD1701-BB65-429E-A484-E41ED46B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43425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采集 / 清洗 / 分类 / 抽取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5CF99A-B59E-40CA-BB2B-564F4906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147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525513-17EE-48AD-B1A5-64D4B61B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848100"/>
            <a:ext cx="2076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4163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871296-9E24-482A-95CB-AD2BE83E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2862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原始情报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9301EE-579C-4682-B66D-9924732E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543425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public_compliant 快照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1B2868-ABE5-4F58-8B6D-16A50B5A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A246E3-D82B-4AEA-B242-3F7EF1AE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48100"/>
            <a:ext cx="2076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3464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996D4D-5B01-4045-BC6F-390FB73B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862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清洗语料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ECA698-BD38-49F3-B348-18596A79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43425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去重降噪后输入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118CDE-56A9-49DC-8555-C921762D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7147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02DCCE-FAA0-4066-AB79-A860E00F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848100"/>
            <a:ext cx="2076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21774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849D01-0F6D-472F-999B-BCD297A4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2862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抽取实体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C3051D-F73C-4AEC-A25D-887A0774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543425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结构化实体库视图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87B4A0-C971-4C3D-886E-AC9454CA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2026.06 · D:\研一\BlackAgent</a:t>
            </a:r>
          </a:p>
        </p:txBody>
      </p:sp>
    </p:spTree>
    <p:extLst>
      <p:ext uri="{BB962C8B-B14F-4D97-AF65-F5344CB8AC3E}">
        <p14:creationId xmlns:p14="http://schemas.microsoft.com/office/powerpoint/2010/main" val="155454794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272E8C-DC2B-4B0F-9BCC-7C905927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EF8FCC-972D-478A-B0E3-DEC57127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DAA5B8-22FF-41CC-8206-CA15C261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95250" cy="678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0">
            <a:solidFill>
              <a:srgbClr val="16243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3E1E15-60A8-43FF-9733-0BFB1471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8667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课题要求与验收口径：从“人肉研判”到“智能对抗”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B4759-27C4-4928-AF23-066E21D3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811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E3A083-B5C0-4CBC-A24F-EF08D7AC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00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BlackAgent · Defense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D45D0-8BCD-4CEB-A0F9-FD0EA0BA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4476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9CD15-CE26-4258-B974-132F81AD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62125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课题原始目标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F00FC-EE18-4ACC-B7EB-85833FA11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09800"/>
            <a:ext cx="36957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“构建“情报采集 → 智能清洗 → 意图分类 → 实体抽取”的端到端自动化分析流水线，把散落情报变成结构化作弊剧本和对抗方案。”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B83796-D378-49ED-86B2-259BD733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005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来源：课题 docx / 启动会文字记录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D40E2-EE1B-4E8F-B550-169B6380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62100"/>
            <a:ext cx="2571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8C7F3B-1094-49B2-9669-3733C5FB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6210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F835EF-C0F7-48B9-AD26-5FE6E2E1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695450"/>
            <a:ext cx="2266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评估不是拼数据量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ADDFC7-9B26-4C18-8A5F-C0C073EC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990725"/>
            <a:ext cx="22669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启动会明确更看重输入到输出的完整度，以及最终线索质量是否符合预期。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85D1CC-6BFB-4361-BD19-C42E462F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562100"/>
            <a:ext cx="2571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696DCC-7180-46BF-B0A8-89537330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56210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971811-BBD5-4D5D-BC3E-AE7AFBDA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695450"/>
            <a:ext cx="2266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分类体系可自定义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4AF7E2-09B1-4C21-B469-2C08D697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90725"/>
            <a:ext cx="22669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分类是否合理、错分是否可复核，是答辩重点。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1EE104-1ABB-4D16-8902-DF62F4CC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143250"/>
            <a:ext cx="2571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3F4DCC-FFE9-4B62-B686-04EBA490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1432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5DBE83-CE43-411C-88A1-F1417B32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276600"/>
            <a:ext cx="2266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合规是硬边界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F533EF-D073-49D5-BDA9-52F126A9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571875"/>
            <a:ext cx="22669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正常抓取、遵循平台协议；不购买数据、不恶意抓取、不绕登录/验证码。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49B0E9-26C1-4649-8FB7-0C827018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43250"/>
            <a:ext cx="2571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68D190-CD27-4BD6-BC3C-21A27F83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432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A78BF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14F963-F986-4CD0-936D-E38B5C58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76600"/>
            <a:ext cx="2266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可本机或服务器部署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3825F3-E101-4B67-BA98-0BD56993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71875"/>
            <a:ext cx="22669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当前交付选择本机 CLI/runtime + demo API，强调可复跑与可审计。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39EA40-8C42-47B4-BB5A-DFDB5F01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阶段验收材料 · 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76A152-DBAB-4246-940C-9A91F024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证据口径：仓库代码 / docs / data/*.json / 当前验证命令</a:t>
            </a:r>
          </a:p>
        </p:txBody>
      </p:sp>
    </p:spTree>
    <p:extLst>
      <p:ext uri="{BB962C8B-B14F-4D97-AF65-F5344CB8AC3E}">
        <p14:creationId xmlns:p14="http://schemas.microsoft.com/office/powerpoint/2010/main" val="65914707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516F56-D9F2-40F6-89B9-122ACAFC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DFF36E-9F62-4EC2-9964-BF3CC725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F7D6A-2C94-43C4-90CA-C796C1A3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95250" cy="678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0">
            <a:solidFill>
              <a:srgbClr val="16243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EB4300-782D-465C-BC50-5BC51BD1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8667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分阶段目标逐项验收：四个阶段均已有代码、产物和边界说明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42DE7-B14C-43AE-8E3B-5A64847F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811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1FB6A4-2F47-4D6E-A9DE-1C898C03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00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BlackAgent · Defense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A08560-4142-49C4-AEF7-0909F67C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2858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52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FF9347-A708-49EE-8F04-806D6A09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2575"/>
            <a:ext cx="1095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AA4F26-4430-44ED-A142-22CFADF3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476375"/>
            <a:ext cx="2381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52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60742A-2043-4589-89AB-7A36BA58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552575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课题目标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F043EC-8E47-49DB-9611-969DB9FB0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476375"/>
            <a:ext cx="3333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52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4CE4A-FBB8-484B-BD2E-D2E37960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5525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当前实现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F41A2-EA58-4602-BB77-AAE9B08F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1476375"/>
            <a:ext cx="342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52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4C0D37-0E94-4454-94AD-798F57FD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552575"/>
            <a:ext cx="3238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验收结果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8F1F0F-FB45-4FCA-80B0-CE0213DA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1285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DBF810-7217-4757-A1D4-35CA498D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05025"/>
            <a:ext cx="10572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数据采集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82E8DB-2962-459B-901E-BB9AD1DE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971675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7B60FD-EF7B-4D8F-A8E9-507B4921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105025"/>
            <a:ext cx="2152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打通 IM / 群组 / 论坛等 ≥3 类情报源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9073C-3D6D-4129-9837-EF3AEC0D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971675"/>
            <a:ext cx="3333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CDEA24-72BA-4043-97F3-BC85BDA7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05025"/>
            <a:ext cx="3105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source catalog + authorized collector + raw JSONL / SQLite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F4D730-BD48-4916-BA65-CD1A69F5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1971675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481F29-041B-499E-A8E1-BFF76F4F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2105025"/>
            <a:ext cx="3200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4163 raw；3 类 live smoke 均达 ≥3 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63BC4C-DF0F-4A82-9402-E91DC58B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1285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9EFD2F-2424-4B11-B6BD-284FBB44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10572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智能清洗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1B707F-AF64-4FD3-A0EC-7E0418B6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97180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6E56B8-82CE-49EC-8A4C-35D6956B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05150"/>
            <a:ext cx="2152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自动去重、过滤噪声、识别高危内容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C90E12-7138-4E57-AD06-6C341564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971800"/>
            <a:ext cx="3333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818186-0243-436C-B26E-547501FD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105150"/>
            <a:ext cx="3105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Clean + Dedup + quality profile + risk scorer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8A8AFF-17E6-4280-820C-57D73D9A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29718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2BE2F8-F770-4DAB-8302-E08E6627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3105150"/>
            <a:ext cx="3200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3464 cleaned；699 dropped；650 duplicate drops；1095 high-risk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FEC8AB-0350-4195-B7D7-76EF34CB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71925"/>
            <a:ext cx="1285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3B68E2-5B26-4875-8DE8-26F17320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05275"/>
            <a:ext cx="10572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意图分类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D6EF78-1297-4D4E-9B83-1F927DD9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971925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66620D-2C93-46E6-BC32-BD4B6FF8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105275"/>
            <a:ext cx="2152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按诈骗 / 引流 / 作弊 / 工具交易等分类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0B1422-CC4B-47DA-9741-BE465513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971925"/>
            <a:ext cx="3333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E7C4D4-395D-464B-81A3-DB64F3CD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105275"/>
            <a:ext cx="3105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Fine-grained rules + polarity + rule/LLM arbitration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B98DCE2-398D-477B-B68F-EC6BA154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3971925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45D167-5CF0-45BF-AE59-A767E273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105275"/>
            <a:ext cx="3200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3464 classifications；高危视图 1061 条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9DE69D8-1480-4FD3-80D6-8CB2A4AB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72050"/>
            <a:ext cx="12858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194EEC-0474-4798-B6FF-2406F19C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05400"/>
            <a:ext cx="10572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实体抽取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8813D2-5EBC-481F-BD99-050CE2B7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9720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7DC3183-6481-49BA-81F9-D5159219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105400"/>
            <a:ext cx="2152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抽黑话、链接、账号、联系方式、工具资产等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69E106-33AD-4892-9562-B34791F3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972050"/>
            <a:ext cx="3333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F1B151-A532-4638-AB63-46727D98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5105400"/>
            <a:ext cx="3105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AdvancedEntityExtractor + normalizer + graph store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4028D23-9A63-4053-A578-C7197C4E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497205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3A1CEC0-0C9A-46B5-B3AA-E27BBD92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5105400"/>
            <a:ext cx="3200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21774 entities；高危视图 4698 entities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B2C008-5D4E-48DD-99D0-F51D46A7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阶段验收材料 · 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7843687-8A01-4712-BEB2-2911B642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证据口径：仓库代码 / docs / data/*.json / 当前验证命令</a:t>
            </a:r>
          </a:p>
        </p:txBody>
      </p:sp>
    </p:spTree>
    <p:extLst>
      <p:ext uri="{BB962C8B-B14F-4D97-AF65-F5344CB8AC3E}">
        <p14:creationId xmlns:p14="http://schemas.microsoft.com/office/powerpoint/2010/main" val="157484372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F392DF-4925-4414-8813-4C521695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D13F76-569C-49A1-A1CD-2015FBB3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D3E082-3A10-4F98-8F64-F8A35170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95250" cy="678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0">
            <a:solidFill>
              <a:srgbClr val="16243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E64B59-A9EF-4BE9-8D4F-97913337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8667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系统主链路：本地可运行的端到端 Agent，而不是单点脚本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2AE453-1E84-4D2B-8C8E-C05328FD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对外展示压缩为 5 阶段，内部保留安全、预算、历史资产和线索晋升。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1AD416-DE6E-4282-9857-71CC2BA2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811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1A3357-0DBE-46AC-90E6-3D41843A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00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BlackAgent · Defense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1023D3-0A1C-4122-9F56-52CFDF13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16954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CF1682-E88E-4279-979C-25D891C1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81167-5C7A-4D01-9E9C-A0E60FC6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478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输入任务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C5E7B4-F41F-451A-AC17-6D0179F3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13906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query / 上传样本 / source / 时间范围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24C7BA-D9E4-420F-BA06-1556028B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0002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5DC9FE-302D-42B1-8FD4-8F09BE81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714500"/>
            <a:ext cx="16954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9623AC-2136-4641-8EF2-D16F0A7F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71450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3F448C-2377-4FC4-ACCA-6CBDFE55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478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安全与路由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C5569D-92A9-4EF8-8FBC-747B0ACE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43125"/>
            <a:ext cx="13906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Guard + budget + profile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D74E9C-670A-4389-89D6-6AD14A13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002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C43B71-A25E-473A-ACE8-22027FEB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14500"/>
            <a:ext cx="16954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608459-09BA-4996-B874-C80CA653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1450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A78BF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D1005-5AF5-4FB0-85F5-FAA94AFE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478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历史资产检索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548029-2472-4BCF-9A8C-5E414930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43125"/>
            <a:ext cx="13906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clue pool / graph / cache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F28E34-A387-4CF3-9E1A-ADAF9F0A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002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2673C0-5CCE-42B2-BE33-EFEC2CC6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14500"/>
            <a:ext cx="16954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813A94-0D5D-4C47-82DB-3721F110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1450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4478D0-F04E-4F04-A802-766B6154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478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情报处理流水线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0AC298-2D61-4DC7-9A18-309E8D13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43125"/>
            <a:ext cx="13906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clean→dedup→classify→extract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3339D4-A7E1-4602-BD78-48DD985D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002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94C045-968C-4DD8-8323-06C4D943F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714500"/>
            <a:ext cx="16954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00CA8E-296E-480C-8E19-74F96A9B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71450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22C55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73D6D1-2610-480F-A5B1-DC67087A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478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线索生成与报告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F4A377-5229-497D-B13F-972C64F1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43125"/>
            <a:ext cx="13906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clue / playbook / report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AAF281-DF46-4471-A496-2F167DF6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38500"/>
            <a:ext cx="876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7"/>
          </a:solidFill>
          <a:ln xmlns:a="http://schemas.openxmlformats.org/drawingml/2006/main" w="0">
            <a:solidFill>
              <a:srgbClr val="263B5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2BF5FC-A504-4E92-B3D4-7457CA37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2895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Need Fresh Data?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7673AD-26DA-47F3-8AE4-5EBD9493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14750"/>
            <a:ext cx="3238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4A09F5-520F-45EC-A15A-1F35114A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147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44760A-8CD5-4A23-AFC7-5826DCC8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848100"/>
            <a:ext cx="2933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No：历史资产足够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D154C4-0775-4C02-8FEB-33FFBB58F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143375"/>
            <a:ext cx="29337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直接从 clue pool / entity graph 召回并生成报告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0C319A-8901-45B9-8AEE-592E4844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14750"/>
            <a:ext cx="3238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4EE5F1-2247-4564-9B58-56F2B60A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147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0E9B57-C662-49EF-B27C-07B8247B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48100"/>
            <a:ext cx="2933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Yes：合规采集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AC39AF-47A8-4705-9BEC-63F0D7FC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143375"/>
            <a:ext cx="29337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授权 source → IntelligencePipeline → graph / clue promotion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2AE4F6-4EBB-4464-A041-A897607F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165298-2E83-44B7-B556-A3F158CA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91125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77F1D3-57E8-447D-9D93-01E7166F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24475"/>
            <a:ext cx="2838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Route &amp; Guard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6C6304C-4720-492E-B1F4-8D818665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19750"/>
            <a:ext cx="28384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PolicyGuard / SourcePolicyGuard / routing profile / budget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2CC22C-6E82-4941-8B72-292488BB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82C3EF5-525F-4C7C-90C3-7CE4CA04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191125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A78BF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111ECDD-BFCC-4EC8-9A3D-B986CD31F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324475"/>
            <a:ext cx="2838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Pipeline stages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AC1741C-E059-44E1-91C7-D97F804F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619750"/>
            <a:ext cx="28384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Clean / Dedup / Classify / Extract / Normalize / EntityGraph / CluePromotion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F1824A2-C991-4D76-8560-D608EC1F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B9395F4-E1D4-4CFF-B8C6-0F24AC83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191125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9A237A5-29B1-43C2-A705-7EE67DFC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24475"/>
            <a:ext cx="2838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A003520-990F-4A9C-A92E-78D883E1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619750"/>
            <a:ext cx="28384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candidate_clues / actionable_clues / playbook / evidence chain / review notes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E57B285-225C-4E9E-AA9C-8252D7D2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阶段验收材料 · 04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B2950C4-3B5B-4054-B37C-9D4E9B8F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证据口径：仓库代码 / docs / data/*.json / 当前验证命令</a:t>
            </a:r>
          </a:p>
        </p:txBody>
      </p:sp>
    </p:spTree>
    <p:extLst>
      <p:ext uri="{BB962C8B-B14F-4D97-AF65-F5344CB8AC3E}">
        <p14:creationId xmlns:p14="http://schemas.microsoft.com/office/powerpoint/2010/main" val="184258385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D9A586-C33A-453E-81FB-627599EE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500B22-C12F-4612-9990-C2541782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CFD3B-62DD-4ADB-ABDD-535D2867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95250" cy="678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0">
            <a:solidFill>
              <a:srgbClr val="16243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52F82-8A46-480A-A9FF-6B8C05D5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8667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核心挑战 1：多源异构、噪声大、重复率高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44E2D6-2AD4-49C2-95FB-B2FE11E4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采集层先证明来源合规，再用清洗与配额样本解释“覆盖”和“噪声”。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3D7B7-C529-458B-8CA8-AC966E8D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811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03C65D-32E6-4969-8473-C03D6ED2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00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BlackAgent · Defense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92454E-3CED-456D-A9D3-D3033571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2381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6039F-B0D7-400F-BC28-00BA680D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14475"/>
            <a:ext cx="2076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4163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0229FD-A549-49BA-A1C9-BEA5135F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52625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raw records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CA33F-873D-4B44-92EA-B182177B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381125"/>
            <a:ext cx="2381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6F45AD-3EBE-4409-9F02-10D64D32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514475"/>
            <a:ext cx="2076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3464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06F697-73E7-4AD4-AE8E-B11E31A0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952625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cleaned corpus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A0D975-49E3-4019-BFF6-3565CC8E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81125"/>
            <a:ext cx="2381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9CB09-B899-436D-A19E-D59A5C8F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14475"/>
            <a:ext cx="2076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699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928688-497C-45D2-BC68-BEEF07D4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52625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dropped noise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DC757F-B1C5-4C34-BCE6-56E6D413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381125"/>
            <a:ext cx="2381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0E8AB9-C5F2-4E31-A205-B19EDE59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1514475"/>
            <a:ext cx="2076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650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56E5B6-D6FA-4EAC-B4A8-7DD8D6DD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952625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duplicate drops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A334E5-7278-4749-A511-018395EA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source class 结构（当前 raw corpus）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03F86A-0554-425D-815B-AA0D958A3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IM / 群组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D4424A-A421-4AAA-82AD-864FBBA1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190875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C067B7-0AA4-455B-8C0E-4A8A63D9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190875"/>
            <a:ext cx="537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946C29-96D1-4D6D-8A33-387E9931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9087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3786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97DD43-BCDC-4850-A479-A4600227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社媒 / 论坛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A25663-8859-4107-9217-905213C4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705225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2F0C17-CE0E-4FA9-8A0D-045DFFCD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705225"/>
            <a:ext cx="50501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A78BF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5279F8-01DE-4328-B3FE-FA7DD35E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0522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356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DB35D1-D589-4D06-A9F1-C4252F05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9575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垂直 / 技术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5DF33B-0EB2-45AE-8050-CDC0B2ED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219575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E1D997-D2E7-4362-9751-364B9BBE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219575"/>
            <a:ext cx="76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69EFF17-779E-45F5-B52F-98F49889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1957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B4CCE0-3D23-4734-994C-C47B7334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90850"/>
            <a:ext cx="2000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BF9C4F-C83D-43C2-8E2D-A912F0DB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908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9FB271-1259-4F1C-AFFE-64E3CD8C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24200"/>
            <a:ext cx="1695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合规 live smoke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7ECADC-B132-478D-91BF-DA944B10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419475"/>
            <a:ext cx="16954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三类 source 在显式联网和授权域名下均达到 ≥3 条小样本目标。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6B8AD9-7131-4B0B-8F4B-118AE42A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720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511A29-EBDA-4A96-944A-E8880213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53000"/>
            <a:ext cx="9677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live_authorized_smoke：IM/group 6、social/forum 5、vertical/technical 7，三类均达到目标下限。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310842-926E-483E-B58C-F5566CAA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721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83BD108-8EBC-4403-8E9D-FF039813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53050"/>
            <a:ext cx="9677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quota-balanced sample 选中 1626 条，并显式暴露非 IM 侧 underfilled warning。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1D489D-57C6-4638-AC36-8662F000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72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99A886-6497-4B7E-B383-A6CC1996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53100"/>
            <a:ext cx="9677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采集快照与派生阶段输入分开：raw=4163，cleaned/classified=3464，不混淆口径。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88CF9C-C6A5-4390-8151-F1A5834C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阶段验收材料 · 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6787C1-B633-4F37-AE7E-E85D79AB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证据口径：仓库代码 / docs / data/*.json / 当前验证命令</a:t>
            </a:r>
          </a:p>
        </p:txBody>
      </p:sp>
    </p:spTree>
    <p:extLst>
      <p:ext uri="{BB962C8B-B14F-4D97-AF65-F5344CB8AC3E}">
        <p14:creationId xmlns:p14="http://schemas.microsoft.com/office/powerpoint/2010/main" val="108513020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975F43-9FF6-426E-9677-F913CF8D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C292C0-71FC-4873-896D-FB99E3FA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84457-9081-4F92-880A-160E4F3F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95250" cy="678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0">
            <a:solidFill>
              <a:srgbClr val="16243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9F5583-7B50-4A62-9591-9B92377D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8667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核心挑战 2：黑话变种、语义隐蔽、图片文字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80482-1B79-42F2-A7B3-32B07DE0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规则词库 + 语义归一化 + 多模态字段保留，先稳定召回再进入复核。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695B1E-AB16-4D35-B782-801D2B5F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811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F4612A-D909-4405-9062-0F97B1A4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00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BlackAgent · Defense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AAF0E-D268-4C75-839E-BB86A944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184818-D099-485F-8AF6-7C52DBFE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14475"/>
            <a:ext cx="2076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208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86FBEB-C20F-4996-B4F2-97B82C63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52625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谐音/变体归一化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A4304-364D-460F-A8D5-ECB3902B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381125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2F202C-9DDF-4E5F-B15C-51ECF520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514475"/>
            <a:ext cx="2076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186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AFB06F-65E9-4F98-8C4B-0B2A4303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952625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emoji marker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6640FF-2B62-4DEA-A756-5E0BCC03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81125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648A69-D1D4-47F4-AF4E-80662F51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14475"/>
            <a:ext cx="2076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D52753-12BD-41E7-AF88-42D68DE4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52625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multimodal text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F07C4A-D325-4341-8834-661A91F4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381125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EAA72F-A1CD-4D75-A1B8-95DCD658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1514475"/>
            <a:ext cx="2076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0.4314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C2819E-482E-42EF-8C22-56AD5207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952625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OCR entity F1 边界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B5FB38-722C-496A-A4BF-ADADF0BD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209800"/>
            <a:ext cx="2038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主动暴露短板，不夸大 OCR 能力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22B0CC-4285-4FC2-955C-23271E9E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95625"/>
            <a:ext cx="1619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9C5A3B-AC87-4E36-931B-E1C664D3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95625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76FCC1-5D62-4071-9308-03622E36B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28975"/>
            <a:ext cx="1314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RuleRegistry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84C390-DF97-4B21-BA4D-D36F58A1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24250"/>
            <a:ext cx="13144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词库/规则版本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AF752-0B5B-46A3-93AA-1649205A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575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68EB74-8D9D-4CEA-BB5D-57AC7611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95625"/>
            <a:ext cx="1619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02597D-B4FD-4433-843A-A4CBC3FD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95625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80F665-A294-4931-B946-BAAC90E3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228975"/>
            <a:ext cx="1314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RiskPolarity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4FB266-B2BF-4863-9420-7E51FF5F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24250"/>
            <a:ext cx="13144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防御语境/否定语义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50FA18-8B8D-4828-A938-445F7C77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575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C6AC97-0B76-4A65-B996-81581C63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095625"/>
            <a:ext cx="1619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DDBD8D-9BAA-43FF-9005-C4743C75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095625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A78BF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4F5A55-1531-4D03-AAB3-7AE515C7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228975"/>
            <a:ext cx="1314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EntityNormalizer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FE72C3-29FF-46DB-9693-E1B9986E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524250"/>
            <a:ext cx="13144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URL/TG/contact hash/mask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46E328-67A5-4AC1-9517-B504D87B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575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04E3F6-1C2E-4325-98A1-EF517979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95625"/>
            <a:ext cx="1619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90CE4F-5681-4BC9-BE8C-0FEBA378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95625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77D10C-25C4-4D91-BAD2-9C739B3D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228975"/>
            <a:ext cx="1314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Classifier / Extractor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FCC8200-4FB1-40FF-85E6-F4D20263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24250"/>
            <a:ext cx="13144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最终分类与实体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05E06E1-1266-461A-81C2-D4FC37D4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575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3C9286-E4A5-4535-94E7-FE3C54F8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095625"/>
            <a:ext cx="1619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5387D96-14F6-4C2C-A861-EA74A7AC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095625"/>
            <a:ext cx="47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7171"/>
          </a:solidFill>
          <a:ln xmlns:a="http://schemas.openxmlformats.org/drawingml/2006/main" w="0">
            <a:solidFill>
              <a:srgbClr val="F8717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F34553-96AE-4754-8C06-3D75DC58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228975"/>
            <a:ext cx="1314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Human Review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4C4B27-6ED8-4C6F-B93E-E2589FE5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24250"/>
            <a:ext cx="13144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review_required / audit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777E06-8C5D-47B6-9526-C27CAEBF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FDA92D2-1748-4996-A48C-65709375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48250"/>
            <a:ext cx="9391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风险分类保留 rule / llm / final / resolution，下游只消费 final。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D9074E3-FAF7-48DD-BB0E-73ED7DF2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67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2DBDBB-0EA7-4C68-AF50-476A7FF5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448300"/>
            <a:ext cx="9391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图片/OCR 字段成为一等输入：image_url、caption、poster、screenshot_ref 可进入清洗与导出。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7E9C90-76B4-4FA4-905D-B33BA116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674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383C652-0A06-4207-AD22-3B7CD086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848350"/>
            <a:ext cx="9391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OCR hardset 明确暴露短板：分类 F1=0.90，但实体 F1=0.4314，后续需增强 OCR engine。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AD94975-DC2B-42F5-868F-A5586300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阶段验收材料 · 06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B0B3288-83EA-41C9-83ED-96685916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证据口径：仓库代码 / docs / data/*.json / 当前验证命令</a:t>
            </a:r>
          </a:p>
        </p:txBody>
      </p:sp>
    </p:spTree>
    <p:extLst>
      <p:ext uri="{BB962C8B-B14F-4D97-AF65-F5344CB8AC3E}">
        <p14:creationId xmlns:p14="http://schemas.microsoft.com/office/powerpoint/2010/main" val="71333556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68C5D7-70A1-4A99-AC79-54BE5AC4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1BADC-B5BD-4D6F-A4D4-7140FA42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9DC16F-47EF-4E87-B680-D38DF7B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95250" cy="678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0">
            <a:solidFill>
              <a:srgbClr val="16243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D2B3B1-12CB-42D2-83D2-2690853A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8667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核心挑战 3：效果 / 成本 / 时延三角平衡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B7D824-69A7-4B2A-804F-DFA9E9E5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默认规则优先，只有复杂 query、live plan 或高价值 refine 才进入 LLM。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3A19A5-8F3A-44B5-AB21-41E9973C0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811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3E6B4-5454-45BE-93EF-58B8ED8A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00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BlackAgent · Defense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91565-29C5-4A1A-868F-8A9F9D865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23622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8378D7-7C8C-4C30-B160-5D223F6E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62100"/>
            <a:ext cx="205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74449C-F968-4DF0-A9C7-605B495B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201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offline LLM calls / 1000 records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D79BFC-C4EC-413F-AA2F-65968ECF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428750"/>
            <a:ext cx="23622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437678-858E-4361-AE07-97F22D21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562100"/>
            <a:ext cx="205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+145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AA8848-30C3-4DF9-BF5E-41646E1D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00250"/>
            <a:ext cx="201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record enrich 额外调用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45F47E-15A4-4FB4-8F1F-DD3319F1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23622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1B20DC-B694-407B-AC38-91E928E5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62100"/>
            <a:ext cx="205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0.0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F6C55B-3481-407A-A8C3-3499ECDF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00250"/>
            <a:ext cx="201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F1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F45649-9765-42A2-BF87-FB70FC90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28750"/>
            <a:ext cx="23622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0B0D5F-5827-4185-9B4A-E1DC8644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562100"/>
            <a:ext cx="2057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2.79s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4BC470-932D-43C5-97B7-EE435B39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00250"/>
            <a:ext cx="201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fast eval p95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7AFFF9-8DBD-43D6-9D94-B5FD19A3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43250"/>
            <a:ext cx="26670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8C08B5-1EE2-4431-97BA-5244B4F9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71850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效果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71D0F8-FCCB-4FAE-AE9F-85A2A09A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2437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成本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7EF908-F001-4168-9431-4351654B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524375"/>
            <a:ext cx="76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时延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35F52C-F947-4388-820D-D3ACF980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952875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Rule-first + selective LLM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6ACA34-354D-43D3-A29A-556E2E0A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71800"/>
            <a:ext cx="590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F4A2D5-E77B-4933-8D09-0D59CB08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718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FD3986-D907-49B3-84A0-CBF9E7F0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105150"/>
            <a:ext cx="5600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fast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FDC638-6FAA-4EE3-8589-9518399B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400425"/>
            <a:ext cx="56007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不做 live collection / LLM parse；适合答辩 smoke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C49AD8-E9E3-4F73-BDCE-86C166A7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48100"/>
            <a:ext cx="590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0F9B07-4A84-4561-BD38-5366467B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481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ED128E-ADE8-4EAB-B567-289A5848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981450"/>
            <a:ext cx="5600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balanced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21EDBE-C06E-429D-9E1F-E249A7E3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276725"/>
            <a:ext cx="56007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复杂 query 才启用有限 LLM plan / rewrite / refine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7751A58-DB9A-4E59-9D70-1245912B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24400"/>
            <a:ext cx="590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7CE683-AB43-4227-AFF5-F62173AC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244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5D3080-E839-4964-B428-2FE959EF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857750"/>
            <a:ext cx="5600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high_recall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22665B-8A89-47E2-A3A1-7CE76050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53025"/>
            <a:ext cx="56007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放宽 source 与候选预算，用于批量召回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50564AE-D26D-4B20-85B4-3C3CF1D6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81625"/>
            <a:ext cx="8667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12AD15-B627-45B3-BDD1-3A2678BB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81625"/>
            <a:ext cx="47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7171"/>
          </a:solidFill>
          <a:ln xmlns:a="http://schemas.openxmlformats.org/drawingml/2006/main" w="0">
            <a:solidFill>
              <a:srgbClr val="F8717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2D17F9-C415-4202-8343-18D49E96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514975"/>
            <a:ext cx="8362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当前门控决策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61EC4D5-84E9-4349-A5D3-D618FFD1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810250"/>
            <a:ext cx="8362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LLMValueGate 当前结论：record enrich 增加成本但没有测得质量增益，因此策略为 conflict_only。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63F61C-A801-4E81-86E9-3B3CABAB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阶段验收材料 · 07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205D26-4DA6-4F83-8872-5E4BAEFC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证据口径：仓库代码 / docs / data/*.json / 当前验证命令</a:t>
            </a:r>
          </a:p>
        </p:txBody>
      </p:sp>
    </p:spTree>
    <p:extLst>
      <p:ext uri="{BB962C8B-B14F-4D97-AF65-F5344CB8AC3E}">
        <p14:creationId xmlns:p14="http://schemas.microsoft.com/office/powerpoint/2010/main" val="130240596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28F38C-F944-413F-B58D-B5B68C35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DB977A-BC70-4E49-93B3-5BF9508F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C2ACBD-B2D4-4F9A-BCDE-C77F9409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95250" cy="678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0">
            <a:solidFill>
              <a:srgbClr val="16243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ADDCCB-4FAB-4659-A53B-77B28B4B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8667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从结构化实体到可复核线索：可信度不是一句话，而是一条证据链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44C9AB-B771-482E-9E5D-7FFB188B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811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F3694-0EC8-44EA-A376-3B629391A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00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BlackAgent · Defense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E82B86-C6BA-4367-B792-6325E36B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30480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B1141F-15B1-4921-9C12-1BEC6FCE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476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7DA4D1-6DB6-4E77-8D32-879541D0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62100"/>
            <a:ext cx="2743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共享联系方式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EF2DF4-2D8D-4CD5-84F8-418A856B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57375"/>
            <a:ext cx="27432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48h 内同 contact ≥3 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44DBD5-C185-4116-A962-D9016AA5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428750"/>
            <a:ext cx="30480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42F053-4C39-4A70-93A8-FFF4C3DC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428750"/>
            <a:ext cx="476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34C42C-504C-47C4-BF72-E2F2DD4B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562100"/>
            <a:ext cx="2743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共享域名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70276A-471D-450C-BCDF-8DB49339A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857375"/>
            <a:ext cx="27432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同 domain 来自 ≥2 个 source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519828-76F8-45EA-A2C7-E5EC7F79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428750"/>
            <a:ext cx="30480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036018-EA33-4499-B3E3-221EFCCB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428750"/>
            <a:ext cx="476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B8D0C7-7BB3-40D3-BD88-B1B72560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62100"/>
            <a:ext cx="2743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重复模板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F8EE50-4762-4897-A51B-D08AB9DF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57375"/>
            <a:ext cx="27432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去重后同模板 ≥3 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8692F6-F9C0-4CDA-86A5-AE61B9A5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62300"/>
            <a:ext cx="1524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8CAE9-86E0-4D42-BBAD-3EAFE0864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6230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FD3F0E-49C8-45DD-9FBC-E14E3301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95650"/>
            <a:ext cx="121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实体抽取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501004-4264-4A04-A418-8018BC7B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90925"/>
            <a:ext cx="12192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结构化/聚合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A5550E-37E7-458D-A0F3-9E06B517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3337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D2C911-94EC-4B41-B9D6-0BF92C23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1524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42273D-5C33-42EB-83E5-133B7C9D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B46150-B722-484D-A54B-88CF01E4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295650"/>
            <a:ext cx="121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实体图谱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4B3FCA-F3EF-4B02-A2C0-1C340059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590925"/>
            <a:ext cx="12192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结构化/聚合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8A4076-0B7C-42D0-B74D-D43974DC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337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53B1B9-43BA-495C-95A2-B960D36D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62300"/>
            <a:ext cx="1524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3D3338-D614-42DE-8635-13A3840B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6230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A78BF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6AE3CA-1AB5-4460-BEAD-8A294C58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95650"/>
            <a:ext cx="121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候选线索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3CF8E9-F6EE-4726-8A10-60003247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90925"/>
            <a:ext cx="12192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结构化/聚合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E36D6F-6CB7-457B-A7EC-EF73CAA4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3337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25DEDF-52C6-4B50-A219-68A49D76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162300"/>
            <a:ext cx="1524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8E6BD2-510A-460B-9F03-9D3F3102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16230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04E2BA-6A0B-4C9F-8F00-DA8237F4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295650"/>
            <a:ext cx="121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晋升 actionable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3AB525-71D1-4DAC-AD91-F7863734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590925"/>
            <a:ext cx="12192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可复核输出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3EC010-6BED-44EE-92E2-C3B1CBF9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33750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76D2B0-1001-4A7E-97A4-3E616412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62300"/>
            <a:ext cx="1524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88D94C-F424-41D5-8C35-98DCC440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6230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22C55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55B6E2-CB14-4B0A-A303-61B00CB4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295650"/>
            <a:ext cx="121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作弊剧本 / 对抗建议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8821B34-8916-4B18-88F9-EFA49692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590925"/>
            <a:ext cx="12192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可复核输出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0B25D2-7CDC-438A-80AD-7B9E7DFB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2442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5CB2B77-E44E-4926-BFE2-60B39DA5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905375"/>
            <a:ext cx="9296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EvidenceChainRenderer 输出来源、命中规则、实体和上下文片段。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6B91FF0-3983-4140-AE54-A3F58ADC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4352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497F4B3-A5D4-4D56-8A8B-0FFAB832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324475"/>
            <a:ext cx="9296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Countermeasure 默认 review-only，不做自动封禁或线上处置。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5F82FA8-115B-4AE1-987E-B6050D94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62625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382D2F4-3057-4595-AD66-01A0AF24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743575"/>
            <a:ext cx="9296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弱线索进入 archived_weak_clues，避免召回阶段放大人工复核负担。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812CA03-10C5-4821-84A9-87524818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阶段验收材料 · 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9E44BF7-41A0-43E0-A6B5-793305A1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证据口径：仓库代码 / docs / data/*.json / 当前验证命令</a:t>
            </a:r>
          </a:p>
        </p:txBody>
      </p:sp>
    </p:spTree>
    <p:extLst>
      <p:ext uri="{BB962C8B-B14F-4D97-AF65-F5344CB8AC3E}">
        <p14:creationId xmlns:p14="http://schemas.microsoft.com/office/powerpoint/2010/main" val="190650730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E4ADFD-2CFE-4F80-B3F6-8F88D2DB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28E595-4D39-49F5-922C-371A6167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90595D-4FEC-4253-B33D-387701A2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95250" cy="678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0">
            <a:solidFill>
              <a:srgbClr val="16243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F40AD-A3D6-45EE-A840-0B3838BE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8667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质量评测：把“完成度”和“边界”放在同一页讲清楚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087D8-4E6B-4B4E-AB89-BC72EC7F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811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C1940-CA88-48AF-9F6D-6DCCAF99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00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BlackAgent · Defense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D56FE2-B203-41D5-8763-3F6ED5E7E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287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52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32F36B-F8E0-42B8-BE9F-5D0E1AB3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885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数据集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E07C29-7CEF-40F0-8DE5-054E6F25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428750"/>
            <a:ext cx="76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52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D3979E-A2E9-492D-A0AA-53619F74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5049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5B7AAA-2426-4DE4-85CC-CE323348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42875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52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F74F38-0FA0-425C-9157-DD3EA49F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04950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一级 F1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3CED69-16DB-4EA0-A6C3-DBE288E9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42875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52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0F29DF-B612-4D03-B2B4-3AF1E385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504950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二级 F1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36D70E-A285-4BAF-98F6-C0A9FC68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42875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52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3D6FD4-5360-461E-9DD4-779214C2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504950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实体 F1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B9D677-57DF-45F2-88B2-34702D79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428750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52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59C7B4-DB13-4FF5-8D4C-3FB4F628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04950"/>
            <a:ext cx="933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线索 F1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F7BCF6-BC7F-4A97-A260-AEDF51B9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28750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52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472A08-5EA3-456B-8879-2560D956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04950"/>
            <a:ext cx="933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复核/100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A3B5C7-9E57-4D98-A118-531BFFA4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8595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9CFCC2-8DB0-4609-BA71-AE17CA63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47875"/>
            <a:ext cx="1885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主评测集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002BC0-1189-4616-95E1-A8BB6D42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885950"/>
            <a:ext cx="76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BC7C7B-1AEF-4D6C-85D1-3C35261A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0478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100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8FC66F-36C7-49D0-B296-DAC5AA34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8595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ED890E-C92F-47D8-BFD3-D55E220E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4787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1.000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052222-0C96-4014-BC08-24693AEF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8595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9D0F57-4D69-45A0-BB85-97A35A30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4787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0.9524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113774-BB95-40FE-9A3F-D988BA68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88595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A2E481-189C-4C76-8694-6CA373D2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4787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0.9655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7FDDF9-F016-4A18-A935-FD29447E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85950"/>
            <a:ext cx="104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673DA0-7120-4190-BCAC-6DA7D043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47875"/>
            <a:ext cx="933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1.000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5A1CE9-254F-4B6B-ACDC-58BC9935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85950"/>
            <a:ext cx="104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EFB9C5-539C-4B49-91A5-64605404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47875"/>
            <a:ext cx="933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10.0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7EF80E-D055-4894-9D6A-9C320D59A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7175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267102-1210-454E-A44B-3232D6DC9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885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本地 held-out seed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C10FF85-B6B7-4E3D-AB22-47B45451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571750"/>
            <a:ext cx="76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2942B9-B556-404B-9B25-384F20A7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7336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59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4C760B-2A56-45ED-9594-2930A52B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8732B0-D8A4-44A4-9D61-12F90F77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3367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1.000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D7A9868-3B6D-4333-AEBC-2B89F6D6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720A837-0D14-46C9-B321-B08D4E6F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3367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1.000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EFA8185-B73C-4215-AF24-DCE32BDE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57175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95746E-F2DF-427C-9088-B4B17CAE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3367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0.9023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9B38804-6CDD-498F-AD11-460AF8EE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571750"/>
            <a:ext cx="104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83158BB-4034-4F4D-8569-8F4E1FE2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33675"/>
            <a:ext cx="933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222E769-AAA0-415D-968E-E541A59A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71750"/>
            <a:ext cx="104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895499-30F3-40DB-8FD0-C1043FDE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33675"/>
            <a:ext cx="933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61.0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A8D833-356A-4838-A2B7-EF8847A6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5755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4CEACD7-60AC-4A30-93C4-26D6E45A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19475"/>
            <a:ext cx="1885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OCR image-text hardset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57ED39E-F3AD-468B-A917-BB264401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257550"/>
            <a:ext cx="76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A6750E8-74B2-4639-9789-E5295BC7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4194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48F61DE-0B61-4BCC-A030-AD91D66C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5755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2F5008-2013-40F6-8AE1-31B6249D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1947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0.900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2803CEF-5396-4317-88FF-7B3A1713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5755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685344C-D60B-4F7E-B921-196DDD72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41947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0.7368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FEA9C39-8FD7-46D3-967D-BDCB4280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5755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CFCAA89-6155-4426-A9E8-33A9F345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41947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0.4314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F3B3073-FFCE-494B-B9A9-A71260EE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257550"/>
            <a:ext cx="104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E46B862-795E-4832-830F-DC4B47EB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419475"/>
            <a:ext cx="933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71B500E-F383-42E7-9641-EAD0AE12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57550"/>
            <a:ext cx="104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1FCB140-037D-4DD7-97D2-8090069B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19475"/>
            <a:ext cx="933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40.0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1AC1623-428E-4651-A2A8-8833F25F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33875"/>
            <a:ext cx="30480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8E03328-E979-4BFD-8FE7-2ED07011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33875"/>
            <a:ext cx="476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A5763DA-7DCE-4AA6-879E-56B7A6BA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67225"/>
            <a:ext cx="2743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边界 1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5F9A678-D151-4D2C-9E08-E3275299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62500"/>
            <a:ext cx="27432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主评测与 held-out 是本地公开/授权语料验证，不等同于线上生产效果。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597A4A0-7A63-45BB-83FC-D8320D28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33875"/>
            <a:ext cx="30480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6D408E8-F1F0-4C61-8F99-BB454ABA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33875"/>
            <a:ext cx="476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7171"/>
          </a:solidFill>
          <a:ln xmlns:a="http://schemas.openxmlformats.org/drawingml/2006/main" w="0">
            <a:solidFill>
              <a:srgbClr val="F87171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C91D117-B71C-4B45-B037-DE1CC551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467225"/>
            <a:ext cx="2743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边界 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26241F2-C621-421E-BF47-1D00946F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762500"/>
            <a:ext cx="27432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manual held-out 当前 confirmed_record_count=0，已生成 review CSV，但未形成最终人工金标。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B557D22-898E-4431-9705-F638378C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33875"/>
            <a:ext cx="30480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D66C5C7-EF78-4E48-BC95-1B8C86346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33875"/>
            <a:ext cx="4762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84E3A56-E5DD-42F4-B1ED-4485EEE4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67225"/>
            <a:ext cx="2743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边界 3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8D540AA-01C8-466A-8749-F3132F81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762500"/>
            <a:ext cx="27432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完整 pytest 最新验证通过；PPT/报告保留边界口径，避免把 smoke 说成线上效果。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DBC3673-CF56-4821-A832-7BF25BC6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阶段验收材料 · 09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695979E-09C2-4163-B740-D2CFFB5D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证据口径：仓库代码 / docs / data/*.json / 当前验证命令</a:t>
            </a:r>
          </a:p>
        </p:txBody>
      </p:sp>
    </p:spTree>
    <p:extLst>
      <p:ext uri="{BB962C8B-B14F-4D97-AF65-F5344CB8AC3E}">
        <p14:creationId xmlns:p14="http://schemas.microsoft.com/office/powerpoint/2010/main" val="97388903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F3A1F3-8EBF-47A6-B53E-F0BBA26B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D82E5F-5E17-4ADD-9C06-B266841F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35E2FB-28F2-46E9-9108-A0FF0079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95250" cy="678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0">
            <a:solidFill>
              <a:srgbClr val="16243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B74EFF-D134-42FF-BE2E-F64F5415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8667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安全合规与运行边界：能演示、能复跑、不会越界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E6783-EBA0-4A85-954E-37ED341D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811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B87D3F-08C5-4801-BE56-D9DB76EC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00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BlackAgent · Defense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3EC517-49FF-484E-AAC9-F748AB77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已落地的安全控制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A70AB-2E36-4FF4-B9CB-A7159595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4763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明确不夸大的边界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33B718-2178-4988-A6F2-F02E01ED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76A6C2-37B3-449D-BA7F-5A5C087F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00250"/>
            <a:ext cx="4533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network.enabled=false 时默认不联网；live smoke 必须显式 --network-enabled。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6DF91C-6399-4FDA-834D-1F2966B1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F76BED-2DB4-4506-8F79-242C9C7E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28900"/>
            <a:ext cx="4533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HTTPFeedCollector 要求 allowed_domains 与 authorized legal basis。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0D71BA-93E0-4F4F-8A15-17D7CC7A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766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08237C-CA02-41E5-A040-E552B256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57550"/>
            <a:ext cx="4533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PolicyGuard 阻断正式写入、PII 外发、未授权采集扩张和绕过限制。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7857D3-EEB4-4D2B-8FCA-9947BB66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31E3B9-0E27-405C-874C-F2799A33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86200"/>
            <a:ext cx="4533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当前 4163 条交付语料均标记 public_compliant provenance bucket。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7B7B38-81D7-4202-8B45-27DE9AE9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09750"/>
            <a:ext cx="1905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57"/>
          </a:solidFill>
          <a:ln xmlns:a="http://schemas.openxmlformats.org/drawingml/2006/main" w="0">
            <a:solidFill>
              <a:srgbClr val="263B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3B769B-7686-4073-8B67-D0873883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193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AA7608-6F98-49F9-BD61-CE4B5E71C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00250"/>
            <a:ext cx="4533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不是完整 FastAPI / 多租户生产服务；demo API 仅用于本机答辩。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795211-F6B8-458A-859E-9EB85A00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1E6AA6-15ED-479D-B1CA-35218DB8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28900"/>
            <a:ext cx="4533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不宣称覆盖私群、登录后页面、验证码页面或 robots/terms 不明确页面。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1CD044-0A33-4F4C-BCE2-505222AE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766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4E73D8-AF93-4CAD-B3ED-D05B6738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57550"/>
            <a:ext cx="4533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不把 loopback / dry-run / small live smoke 说成广泛外部平台验证。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F3A1A7-6D7B-49F3-AB00-34092A85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78C2B4-F3DE-40A4-9426-6F0782DA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86200"/>
            <a:ext cx="4533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对抗方案仅 review-only，不触发自动处置。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D2DA18-BB7A-4514-AD9D-F9E0C0AA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76875"/>
            <a:ext cx="809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50DAAE-6FE5-4E30-B3E5-8B53E29A6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76875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CFB108-19A9-41D2-B455-2EC53882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610225"/>
            <a:ext cx="7791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验收口径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58FAE3-E764-4A8B-8930-DCAC5ACF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905500"/>
            <a:ext cx="779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能本机演示和复跑；所有外部采集必须显式授权与显式联网；输出只给业务复核，不触发线上处置。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EA239B-0796-4107-AD93-53672524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阶段验收材料 · 10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588200-7863-435D-86ED-73E9FEA3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证据口径：仓库代码 / docs / data/*.json / 当前验证命令</a:t>
            </a:r>
          </a:p>
        </p:txBody>
      </p:sp>
    </p:spTree>
    <p:extLst>
      <p:ext uri="{BB962C8B-B14F-4D97-AF65-F5344CB8AC3E}">
        <p14:creationId xmlns:p14="http://schemas.microsoft.com/office/powerpoint/2010/main" val="4870158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77F723-7009-4E74-9E45-2B3A0203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52A04-9AA4-4AB9-A6FA-D5A41725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AE79DC-E365-4D28-AEFC-07C51456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95250" cy="678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0">
            <a:solidFill>
              <a:srgbClr val="16243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61606A-C30E-4C49-9534-C26E4DE4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8667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已知边界与下一阶段优化：围绕证据缺口补强，而不是重写系统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A416F-F724-40B6-B47E-7B13AE51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811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794C39-449B-4F29-9AB1-77D84F1B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00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BlackAgent · Defense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879281-325A-43A9-9D1D-71680FDA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04950"/>
            <a:ext cx="476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0B519F-CD24-4B93-A51B-7B88BF8C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495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034"/>
          </a:solidFill>
          <a:ln xmlns:a="http://schemas.openxmlformats.org/drawingml/2006/main" w="9525">
            <a:solidFill>
              <a:srgbClr val="F8717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5C1F78-CF54-407E-97B1-F1C1B22C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24025"/>
            <a:ext cx="3429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DE1CDA-E569-41DB-B86C-EB2DFDBE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6764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人工金标闭环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FCC032-3248-4EBA-BAA1-2F27A24C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95500"/>
            <a:ext cx="4238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完成 59 条 held-out 人审，补 clue graph gold 与冲突仲裁字段。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ED772A-6A7D-405F-A04E-C6F62638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04950"/>
            <a:ext cx="476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285433-6AE4-4C8A-8540-2FAE6E54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76400"/>
            <a:ext cx="495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034"/>
          </a:solidFill>
          <a:ln xmlns:a="http://schemas.openxmlformats.org/drawingml/2006/main" w="9525">
            <a:solidFill>
              <a:srgbClr val="F8717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11F2F7-8D2E-45C0-90C7-DD596A496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24025"/>
            <a:ext cx="3429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P0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73355C-9120-4412-98BE-497100C8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6764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source 结构均衡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FB5E8F-6546-4A98-B78E-881F61D81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95500"/>
            <a:ext cx="4238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继续补 social/forum、vertical/technical 授权源，降低 Telegram 集中度。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62E1D1-799C-4CC7-A571-7465A495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476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192FAF-B547-4B1D-AAF4-DB7A1F94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09950"/>
            <a:ext cx="495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034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84F59C-655D-4212-9E64-A6B91A0E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57575"/>
            <a:ext cx="3429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P1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9F0E1E-7BA3-42F0-A06E-CBD5E4AA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409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OCR / 图片文字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DF7AFB-B3F7-40CA-8492-9CA3D7B9B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29050"/>
            <a:ext cx="4238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注入更强 OCR engine，保留 image_text trace，与实体 hardset 对齐迭代。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15BF64-AAF5-41C2-BF81-196DD0CD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38500"/>
            <a:ext cx="476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430C2B-70E5-4698-B726-E354B28E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09950"/>
            <a:ext cx="495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034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1E1D4B-DFFF-4765-A32E-5C461933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57575"/>
            <a:ext cx="3429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P2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913518-E327-40E0-9ACF-29CAA90C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4099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演示与运维面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6B62F9-9625-41ED-A00C-0F087F6C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29050"/>
            <a:ext cx="4238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把 ops_dashboard JSON 包成本机 dashboard，保留 CLI/runtime 为主验收入口。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9E236A-26E6-40F6-8090-C7624A49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429250"/>
            <a:ext cx="914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原则：沿现有 source catalog / pipeline / evaluation artifacts 小步补强，避免为答辩重写主链路。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7309AF-349E-4E41-8353-051EBE35C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阶段验收材料 · 11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90333F-D032-4D61-8DCC-C0F111D2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证据口径：仓库代码 / docs / data/*.json / 当前验证命令</a:t>
            </a:r>
          </a:p>
        </p:txBody>
      </p:sp>
    </p:spTree>
    <p:extLst>
      <p:ext uri="{BB962C8B-B14F-4D97-AF65-F5344CB8AC3E}">
        <p14:creationId xmlns:p14="http://schemas.microsoft.com/office/powerpoint/2010/main" val="94765977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13AC70-6A40-4B70-9485-92D6133B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1D71F2-DB51-4ADD-B57D-DE0421CAE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B17C7C-34DA-4F5A-BF82-495B7435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95250" cy="678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0">
            <a:solidFill>
              <a:srgbClr val="16243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E42059-7611-4FB8-AFD5-CBB84E5B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1950"/>
            <a:ext cx="8667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验收结论：阶段目标已达成，核心挑战有工程化解法和清晰边界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E03551-200B-45B9-A447-EA767778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8110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38BDF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A726F-6476-4AEB-BA2D-4FD8F743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005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BlackAgent · Defense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85A0B0-5B37-451F-B2E6-81DD3C102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51911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C2E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1E018A-15B6-490C-9D2F-94386EE1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验收 Checklist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03D72-53E4-48CD-9352-F913BF95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66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10E288-BB56-4289-A197-A1B926B8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247900"/>
            <a:ext cx="41052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四阶段目标：采集、清洗、分类、抽取均有可运行入口与数据产物。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94E7B8-C714-4C49-B1B5-FBF9DAF2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4ECDC8-9D08-49D6-B160-1674D7B7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800350"/>
            <a:ext cx="41052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核心挑战：多源噪声、黑话语义、成本时延均有对应模块和评测证据。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ADF484-356C-4834-A102-F7E0C203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71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C433B1-4A34-48F8-AD4B-5A156F659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52800"/>
            <a:ext cx="41052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答辩演示：CLI / demo API / JSON 报告可本机复跑。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F4FF02-1B61-4D45-8C10-873375E6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2430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D93640-92CF-4F55-882C-5AAE3061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05250"/>
            <a:ext cx="41052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6C2D1"/>
                </a:solidFill>
                <a:latin typeface="Microsoft YaHei"/>
                <a:ea typeface="Microsoft YaHei"/>
                <a:cs typeface="Microsoft YaHei"/>
              </a:rPr>
              <a:t>边界透明：manual held-out、OCR、source skew 作为下一阶段优化项。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1DCED2-AD71-4F86-9BF8-EAEAECF0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28750"/>
            <a:ext cx="4857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43A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5A96DE-1CB9-46B5-80E0-95D50BBA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1450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建议现场演示命令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8CCDA9-C296-40C3-B6B2-C15892D7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860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7B70DF-C7A9-4714-A1BF-EDD775C9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1935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34D399"/>
                </a:solidFill>
                <a:latin typeface="Consolas"/>
                <a:ea typeface="Consolas"/>
                <a:cs typeface="Consolas"/>
              </a:rPr>
              <a:t>python scripts/run_agent_cli.py --demo-sample --show clues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2B2FAE-2696-445E-81B3-2D5499C6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242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8C7EC8-F0A7-4BA3-9EC5-DA5D38CE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5755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34D399"/>
                </a:solidFill>
                <a:latin typeface="Consolas"/>
                <a:ea typeface="Consolas"/>
                <a:cs typeface="Consolas"/>
              </a:rPr>
              <a:t>python scripts/serve_demo_api.py --oneshot-output data/demo_api_report.json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B9AD21-E0E8-40E3-98B1-CC69DCF8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62400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263B5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798531-442A-4EB8-9B9B-15F23219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9575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34D399"/>
                </a:solidFill>
                <a:latin typeface="Consolas"/>
                <a:ea typeface="Consolas"/>
                <a:cs typeface="Consolas"/>
              </a:rPr>
              <a:t>python -m pytest -q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70F6FA-1DF1-4B0B-B476-D6CB95FD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810250"/>
            <a:ext cx="9715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8FAFC"/>
                </a:solidFill>
                <a:latin typeface="Microsoft YaHei"/>
                <a:ea typeface="Microsoft YaHei"/>
                <a:cs typeface="Microsoft YaHei"/>
              </a:rPr>
              <a:t>结论：建议按“阶段目标达成 + 边界透明 + 持续优化”口径验收通过。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2CB333-C407-4542-B7AF-4F38677E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770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阶段验收材料 · 12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CB93EE-B442-464F-80C3-2C26D000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7700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7C8BA1"/>
                </a:solidFill>
                <a:latin typeface="Microsoft YaHei"/>
                <a:ea typeface="Microsoft YaHei"/>
                <a:cs typeface="Microsoft YaHei"/>
              </a:rPr>
              <a:t>证据口径：仓库代码 / docs / data/*.json / 当前验证命令</a:t>
            </a:r>
          </a:p>
        </p:txBody>
      </p:sp>
    </p:spTree>
    <p:extLst>
      <p:ext uri="{BB962C8B-B14F-4D97-AF65-F5344CB8AC3E}">
        <p14:creationId xmlns:p14="http://schemas.microsoft.com/office/powerpoint/2010/main" val="14626679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2026-06-05T00:51:23.2060000Z</dcterms:created>
  <dcterms:modified xsi:type="dcterms:W3CDTF">2026-06-05T00:51:23.2060000Z</dcterms:modified>
</coreProperties>
</file>