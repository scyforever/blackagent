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b28d3b930247ea" /><Relationship Type="http://schemas.openxmlformats.org/officeDocument/2006/relationships/extended-properties" Target="/docProps/app.xml" Id="R41634f4044674caf" /><Relationship Type="http://schemas.openxmlformats.org/officeDocument/2006/relationships/officeDocument" Target="/ppt/presentation.xml" Id="Rc106489cc16145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4a9936ebff4fbe"/>
  </p:sldMasterIdLst>
  <p:notesMasterIdLst>
    <p:notesMasterId xmlns:r="http://schemas.openxmlformats.org/officeDocument/2006/relationships" r:id="R931722b9c60a453a"/>
  </p:notesMasterIdLst>
  <p:sldIdLst>
    <p:sldId xmlns:r="http://schemas.openxmlformats.org/officeDocument/2006/relationships" id="256" r:id="Rdf849cc3f3d64ba4"/>
    <p:sldId xmlns:r="http://schemas.openxmlformats.org/officeDocument/2006/relationships" id="257" r:id="R233ffe60bb91476f"/>
    <p:sldId xmlns:r="http://schemas.openxmlformats.org/officeDocument/2006/relationships" id="258" r:id="Rdaed4923b6604906"/>
    <p:sldId xmlns:r="http://schemas.openxmlformats.org/officeDocument/2006/relationships" id="259" r:id="Rb88f027476b54893"/>
    <p:sldId xmlns:r="http://schemas.openxmlformats.org/officeDocument/2006/relationships" id="260" r:id="R0675a4b6661b4c87"/>
    <p:sldId xmlns:r="http://schemas.openxmlformats.org/officeDocument/2006/relationships" id="261" r:id="R98e00f24dd52475d"/>
    <p:sldId xmlns:r="http://schemas.openxmlformats.org/officeDocument/2006/relationships" id="262" r:id="Re4da0a7b01094a22"/>
    <p:sldId xmlns:r="http://schemas.openxmlformats.org/officeDocument/2006/relationships" id="263" r:id="Rc845a6781ec94b9b"/>
    <p:sldId xmlns:r="http://schemas.openxmlformats.org/officeDocument/2006/relationships" id="264" r:id="Re883e3731b7c469f"/>
    <p:sldId xmlns:r="http://schemas.openxmlformats.org/officeDocument/2006/relationships" id="265" r:id="R9a6d1b821eac49f6"/>
    <p:sldId xmlns:r="http://schemas.openxmlformats.org/officeDocument/2006/relationships" id="266" r:id="R06fbaa8ad9a7407a"/>
    <p:sldId xmlns:r="http://schemas.openxmlformats.org/officeDocument/2006/relationships" id="267" r:id="R5cc6df9d348242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a9936ebff4fbe" /><Relationship Type="http://schemas.openxmlformats.org/officeDocument/2006/relationships/theme" Target="/ppt/theme/theme1.xml" Id="Rc9a76a492e6747ca" /><Relationship Type="http://schemas.openxmlformats.org/officeDocument/2006/relationships/notesMaster" Target="/ppt/notesMasters/notesMaster1.xml" Id="R931722b9c60a453a" /><Relationship Type="http://schemas.openxmlformats.org/officeDocument/2006/relationships/presProps" Target="/ppt/presProps.xml" Id="R2cb1e7b200b14911" /><Relationship Type="http://schemas.openxmlformats.org/officeDocument/2006/relationships/viewProps" Target="/ppt/viewProps.xml" Id="Rb867e584d48d4bc8" /><Relationship Type="http://schemas.openxmlformats.org/officeDocument/2006/relationships/tableStyles" Target="/ppt/tableStyles.xml" Id="Rf2db808c117148e4" /><Relationship Type="http://schemas.openxmlformats.org/officeDocument/2006/relationships/slide" Target="/ppt/slides/slide1.xml" Id="Rdf849cc3f3d64ba4" /><Relationship Type="http://schemas.openxmlformats.org/officeDocument/2006/relationships/slide" Target="/ppt/slides/slide2.xml" Id="R233ffe60bb91476f" /><Relationship Type="http://schemas.openxmlformats.org/officeDocument/2006/relationships/slide" Target="/ppt/slides/slide3.xml" Id="Rdaed4923b6604906" /><Relationship Type="http://schemas.openxmlformats.org/officeDocument/2006/relationships/slide" Target="/ppt/slides/slide4.xml" Id="Rb88f027476b54893" /><Relationship Type="http://schemas.openxmlformats.org/officeDocument/2006/relationships/slide" Target="/ppt/slides/slide5.xml" Id="R0675a4b6661b4c87" /><Relationship Type="http://schemas.openxmlformats.org/officeDocument/2006/relationships/slide" Target="/ppt/slides/slide6.xml" Id="R98e00f24dd52475d" /><Relationship Type="http://schemas.openxmlformats.org/officeDocument/2006/relationships/slide" Target="/ppt/slides/slide7.xml" Id="Re4da0a7b01094a22" /><Relationship Type="http://schemas.openxmlformats.org/officeDocument/2006/relationships/slide" Target="/ppt/slides/slide8.xml" Id="Rc845a6781ec94b9b" /><Relationship Type="http://schemas.openxmlformats.org/officeDocument/2006/relationships/slide" Target="/ppt/slides/slide9.xml" Id="Re883e3731b7c469f" /><Relationship Type="http://schemas.openxmlformats.org/officeDocument/2006/relationships/slide" Target="/ppt/slides/slide10.xml" Id="R9a6d1b821eac49f6" /><Relationship Type="http://schemas.openxmlformats.org/officeDocument/2006/relationships/slide" Target="/ppt/slides/slide11.xml" Id="R06fbaa8ad9a7407a" /><Relationship Type="http://schemas.openxmlformats.org/officeDocument/2006/relationships/slide" Target="/ppt/slides/slide12.xml" Id="R5cc6df9d348242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cb181cf05124f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789fc86bcb4765" /><Relationship Type="http://schemas.openxmlformats.org/officeDocument/2006/relationships/notesMaster" Target="/ppt/notesMasters/notesMaster1.xml" Id="R50342b5b887d48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dc430a362b4307" /><Relationship Type="http://schemas.openxmlformats.org/officeDocument/2006/relationships/notesMaster" Target="/ppt/notesMasters/notesMaster1.xml" Id="Rb1a39525a26041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caae600d1d4fdd" /><Relationship Type="http://schemas.openxmlformats.org/officeDocument/2006/relationships/notesMaster" Target="/ppt/notesMasters/notesMaster1.xml" Id="Rf22b0ba38f1443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193b6697d740aa" /><Relationship Type="http://schemas.openxmlformats.org/officeDocument/2006/relationships/notesMaster" Target="/ppt/notesMasters/notesMaster1.xml" Id="R53437f2e495d40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c5da00e8b2442f" /><Relationship Type="http://schemas.openxmlformats.org/officeDocument/2006/relationships/notesMaster" Target="/ppt/notesMasters/notesMaster1.xml" Id="R34d9092d04f241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16468f683a4dcf" /><Relationship Type="http://schemas.openxmlformats.org/officeDocument/2006/relationships/notesMaster" Target="/ppt/notesMasters/notesMaster1.xml" Id="R01857512045f4c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12a30990f14f3e" /><Relationship Type="http://schemas.openxmlformats.org/officeDocument/2006/relationships/notesMaster" Target="/ppt/notesMasters/notesMaster1.xml" Id="R566d7ac6c78542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cd6b5163b14c85" /><Relationship Type="http://schemas.openxmlformats.org/officeDocument/2006/relationships/notesMaster" Target="/ppt/notesMasters/notesMaster1.xml" Id="Rb39f309a898146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2baf654f574675" /><Relationship Type="http://schemas.openxmlformats.org/officeDocument/2006/relationships/notesMaster" Target="/ppt/notesMasters/notesMaster1.xml" Id="Rbab14bdf8ba248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0b73cba1dc4819" /><Relationship Type="http://schemas.openxmlformats.org/officeDocument/2006/relationships/notesMaster" Target="/ppt/notesMasters/notesMaster1.xml" Id="R0163bf7c000c4c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1701b29194439f" /><Relationship Type="http://schemas.openxmlformats.org/officeDocument/2006/relationships/notesMaster" Target="/ppt/notesMasters/notesMaster1.xml" Id="R28151fc67fde4f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aed9974514422d" /><Relationship Type="http://schemas.openxmlformats.org/officeDocument/2006/relationships/notesMaster" Target="/ppt/notesMasters/notesMaster1.xml" Id="Rd6aadc61f39148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59f45de9a464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b5d00e1b14943cc" /><Relationship Type="http://schemas.openxmlformats.org/officeDocument/2006/relationships/slideLayout" Target="/ppt/slideLayouts/slideLayout2.xml" Id="Ra73afa5345114b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3afa5345114b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6db41177824883" /><Relationship Type="http://schemas.openxmlformats.org/officeDocument/2006/relationships/notesSlide" Target="/ppt/notesSlides/notesSlide1.xml" Id="R07c4f8bf46284e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dd1a75961c4f00" /><Relationship Type="http://schemas.openxmlformats.org/officeDocument/2006/relationships/notesSlide" Target="/ppt/notesSlides/notesSlide2.xml" Id="R2d91a5d710264b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fdb8b02b764875" /><Relationship Type="http://schemas.openxmlformats.org/officeDocument/2006/relationships/notesSlide" Target="/ppt/notesSlides/notesSlide3.xml" Id="R87d6e39ba91543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2400786f234cc9" /><Relationship Type="http://schemas.openxmlformats.org/officeDocument/2006/relationships/notesSlide" Target="/ppt/notesSlides/notesSlide4.xml" Id="R5775f9b76c8b4a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1015decc5f4205" /><Relationship Type="http://schemas.openxmlformats.org/officeDocument/2006/relationships/notesSlide" Target="/ppt/notesSlides/notesSlide5.xml" Id="Rff69d1ba09ae40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7e35eb1fee4937" /><Relationship Type="http://schemas.openxmlformats.org/officeDocument/2006/relationships/notesSlide" Target="/ppt/notesSlides/notesSlide6.xml" Id="Ref5bbf98553842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ce7fb2e0e44a01" /><Relationship Type="http://schemas.openxmlformats.org/officeDocument/2006/relationships/notesSlide" Target="/ppt/notesSlides/notesSlide7.xml" Id="R8d46e297ee9b4e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967931cc8a4dad" /><Relationship Type="http://schemas.openxmlformats.org/officeDocument/2006/relationships/notesSlide" Target="/ppt/notesSlides/notesSlide8.xml" Id="Rca5bed26fbfb40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11b9f8fac84674" /><Relationship Type="http://schemas.openxmlformats.org/officeDocument/2006/relationships/notesSlide" Target="/ppt/notesSlides/notesSlide9.xml" Id="R1d99eda073cd46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7bb42bd75240f7" /><Relationship Type="http://schemas.openxmlformats.org/officeDocument/2006/relationships/notesSlide" Target="/ppt/notesSlides/notesSlide10.xml" Id="R3e6c77b623ff43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c824e82a39431f" /><Relationship Type="http://schemas.openxmlformats.org/officeDocument/2006/relationships/notesSlide" Target="/ppt/notesSlides/notesSlide11.xml" Id="Re588e71d969e45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bb47777f524382" /><Relationship Type="http://schemas.openxmlformats.org/officeDocument/2006/relationships/notesSlide" Target="/ppt/notesSlides/notesSlide12.xml" Id="R1f31ddb821b541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2D5873-ED60-4149-95D2-E12C9FFF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6E95B-57BA-4191-953B-5452430C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458A7-236D-45EE-A2F9-EFF28CF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952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83C46-70A3-4AF0-8600-99E569F2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BlackAgent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C3D1D-4AC5-49C1-A4FC-B56947BF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黑灰产情报分析助手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CF879-6308-4367-B0F0-B2E9F655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答辩与阶段验收材料｜阶段目标、核心挑战、真实证据、边界说明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C01BB-B2B7-4C7A-BF9F-3D9B8681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本项目是本机可运行的调查助手，用来把公开或已授权的黑灰产线索整理成结构化证据；不是自动封禁、自动处置的线上系统。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BCDDC-16DC-4FD1-9ABD-04C22BD3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70B3E-6952-4A5E-A0D9-6DDC2CE3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63863-25F8-4B86-90E3-156AFF72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076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4 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DF6AD-BC79-4E42-A040-168E1B5B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课题阶段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8E1FA-FC5A-48F2-A0B5-90460086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采集、清洗、分类、抽取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1B6EE-D25E-4DAC-BF78-92F632BE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59B42-72EB-4469-85CB-24B10814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66236-B779-449E-867E-C5F8C51A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86200"/>
            <a:ext cx="2076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4163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2EE35-3CE7-4BED-87E9-C729A834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0530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原始记录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3F8DC-A738-424F-AEE1-93986102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9105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公开且合规的采集快照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D25A5-ED39-43B1-B696-6719D8AD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914E1-7C68-413F-818A-47F43CB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CCAAF2-B29C-413E-A4BD-57D42EE6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2076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3464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83144A-B898-4587-A1EE-66E9C899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0530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清洗后语料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177E3-28A2-4A9C-B96F-3CE3581C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9105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去掉重复和噪声后的输入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F4BC1-466F-4187-ABE9-AEFDDE76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147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57AEB-DCC8-45BA-8F60-E1D6A60F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14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4A185B-7B02-4D93-B537-C56B11A0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86200"/>
            <a:ext cx="2076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21774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99809C-67A7-41F9-AE88-EFAA6BD2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0530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关键信息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8802B0-C4FB-4408-B1C8-DCEE4C5E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9105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账号、链接、黑话、工具等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227325-D76C-4B75-96A4-91B5F0A1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2026.06 · D:\研一\BlackAgent</a:t>
            </a:r>
          </a:p>
        </p:txBody>
      </p:sp>
    </p:spTree>
    <p:extLst>
      <p:ext uri="{BB962C8B-B14F-4D97-AF65-F5344CB8AC3E}">
        <p14:creationId xmlns:p14="http://schemas.microsoft.com/office/powerpoint/2010/main" val="20396570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0E2095-9313-4F6B-9231-9ABEC2A0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E2271-3D1C-423A-BD63-C7ED1D38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D14D4-7526-4BDA-85EB-3B40C8A5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952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9C3A3-F32C-4042-B04B-C538489E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47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课题要解决什么：把散乱线索整理成可复核证据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17EFE-AACF-4B51-BD88-DF078120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BlackAgent · 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413D7-70C3-429C-983A-268BA175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810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D64DE-2F41-4F76-A1C6-95DB3B3F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210BE-6695-42DE-9C9A-9DD36F26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85875"/>
            <a:ext cx="4857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6890C-CBB9-4054-9592-8E40E839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85875"/>
            <a:ext cx="4762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13986-BA40-4E37-887C-BA35266D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38275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一句话目标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89AFD-D103-4075-98D2-D4CABCED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81175"/>
            <a:ext cx="4533900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从聊天群、论坛、公开页面等地方收集黑灰产相关内容，自动清洗、分类、抽取关键信息，最后形成可供业务人员复核的线索和证据链。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C3769-D562-4BDD-939E-ECCBC363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573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验收重点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A4874-2D04-44A9-9B50-3A362999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19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04FF4-AA15-4962-BB04-8CF3D8DB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95450"/>
            <a:ext cx="4867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流程要完整：从输入到输出能在本机跑通，不只是单个脚本。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F2B43-ADD8-461D-9C59-ED61981E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19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B96A4-6D68-47DD-8641-4C2F24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4867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线索要有用：不只统计实体数量，还要说明为什么值得复核。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7C4C3-7F5A-49F6-BC06-5CC3483E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19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036EA-C938-448D-B26D-CDFB0EE7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4867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分类要说得清：分类口径可以自定义，但错分和待确认项要能追踪。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48AB3-E1BB-4BA6-8F96-171444FA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19400"/>
            <a:ext cx="19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C5977-24AA-4AAC-B612-390CC32C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4867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采集要合规：只处理公开或已授权来源，不绕过登录、验证码或平台限制。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8B8065-E572-4F85-9713-38EFA5C6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19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C56E3B-8CE7-4E23-B791-091E60DE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4867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效果要实事求是：本机试跑和小样本验证不能说成线上生产效果。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4E439A-DC2A-4455-8933-2A776F69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依据：课题文档、启动会记录、仓库 README、docs/交付文档.md。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26B7BC-13E6-42FE-B96C-BA1E4769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阶段验收材料</a:t>
            </a:r>
          </a:p>
        </p:txBody>
      </p:sp>
    </p:spTree>
    <p:extLst>
      <p:ext uri="{BB962C8B-B14F-4D97-AF65-F5344CB8AC3E}">
        <p14:creationId xmlns:p14="http://schemas.microsoft.com/office/powerpoint/2010/main" val="11258650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4121C1-4099-4518-AD94-E37B23E3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7B8B9-9E9D-42E9-A737-52874D6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B0775-69CB-434A-A67E-A3F52344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952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9805F-102C-462F-95B8-6B5631FF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47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四个阶段逐项验收：都有代码入口、数据产物和边界说明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D63F1-9993-4582-9F86-DE330286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BlackAgent · 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A995D-35A8-4696-AE31-F5908B8B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810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8AABB-6A28-4AC0-8F74-54E82FB9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88669-310C-42C1-ADE6-B339CB1F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0744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B4CCB-DF69-42F8-83D5-B87DAB4B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971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10F32-FA4C-4F18-A1DD-3CC477DC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52550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课题要求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C96B5-995A-4184-8627-909E826E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52550"/>
            <a:ext cx="35147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现在已经做到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66768-3A0B-4C63-8162-E8E156AC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52550"/>
            <a:ext cx="3324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可核对证据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43354-A919-425C-9985-CBD82EBB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0744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C7098-F0EC-4BC5-9E2B-AEE754B9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971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数据采集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E982F-03D0-4AC6-BBDC-1425177A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覆盖聊天群、群组、论坛等不少于 3 类来源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569B2-57E3-42EC-96DB-A35B70FF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3514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有情报来源清单、授权采集器、公开页面采集脚本，并导出原始记录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4142E-7E79-434F-B647-50865232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95500"/>
            <a:ext cx="33242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原始记录 4163 条；3 类来源小规模联网试跑都达到 ≥3 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5706D-37B3-4FB3-BA89-4AC894B1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10744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2B470C-565C-4516-A0F6-704B78F0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971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智能清洗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BC0F6-5A58-4630-92C6-0E7007C3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384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去重、去噪、识别高风险内容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98EAD-3267-42A0-BA6A-E1A4AD98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38450"/>
            <a:ext cx="3514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清洗模块会过滤重复、泛化教程、反诈公告等噪声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20E78-E82D-41E8-9479-51A89ED9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38450"/>
            <a:ext cx="33242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输入 4163 条，保留 3464 条，过滤 699 条，其中重复 650 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C79EC-AE15-4795-A85D-3E2533E5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7100"/>
            <a:ext cx="10744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5D474B-6F52-463D-8A03-10C8D2D7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971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意图分类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05C23-E290-4207-8395-10E42F57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8140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按诈骗、引流、作弊、工具交易等风险类型分类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5BFB38-2A14-4D8A-B226-2F04C197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81400"/>
            <a:ext cx="3514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规则优先，必要时再调用大模型；保留待复核和冲突信息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7CBCF6-DA6F-4105-80F5-7584254A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81400"/>
            <a:ext cx="33242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分类 3464 条；高风险视图 1061 条；主评测一级分类综合准确率 1.000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79A13D-D1D4-4DD1-AB44-06AC05CA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10744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82AD4-2FE9-4109-A949-E40275B4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971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实体抽取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9FE069-72B3-46D2-8C07-DB04E572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243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抽取黑话、链接、账号、联系方式、工具资产等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A28E5A-B62C-4452-83BE-7D72E8AA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24350"/>
            <a:ext cx="3514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抽取后统一格式、脱敏，并进入实体关系库和线索生成链路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248E4F-D7CB-4416-90F3-8F8FEAD9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24350"/>
            <a:ext cx="33242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全量关键信息 21774 个；高风险视图 4698 个；图片文字抽取仍需增强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552C67-B032-48D1-8507-A0BCAD25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说明：表中“综合准确率”对应评测报告里的原始综合指标，正文尽量使用中文口径。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70BDD8-82CF-48FC-A337-A9A412DE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阶段验收材料</a:t>
            </a:r>
          </a:p>
        </p:txBody>
      </p:sp>
    </p:spTree>
    <p:extLst>
      <p:ext uri="{BB962C8B-B14F-4D97-AF65-F5344CB8AC3E}">
        <p14:creationId xmlns:p14="http://schemas.microsoft.com/office/powerpoint/2010/main" val="19299818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7B2C73-CD5D-41E8-947B-7337D203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D5ADB-8CE2-46F3-B205-8B9123AF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0063C-7A89-4B6F-9227-E4E632AB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952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8085D-5610-4126-80E8-CD836226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47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系统怎么跑：先守住安全边界，再产出可复核线索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315A7-7AF0-4EBD-9F1A-FA3EA999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BlackAgent · 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DB049-DFC2-472B-8F9B-D0E59F32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810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251B8-1C1D-4BDA-9C3A-4F6829F5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61674-0DA7-4A49-B3FA-2C3CF43B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6954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3D875-9D4C-42AB-9F03-10B48324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C2A7C-3946-4D30-A13F-E4BCFAAE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输入任务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04CC9-65B8-4C29-93D1-37E40181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查询词、样本、来源、时间范围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87B92-935D-47BB-9EE6-D0ADB8DE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38350"/>
            <a:ext cx="323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E9D07-2EA2-4D90-8CE6-DD3B6F06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24000"/>
            <a:ext cx="16954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6222C-F59B-441B-87C4-D75068EE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240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2C824-16CD-43F7-82B9-A55A22F9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7B622-1E41-4776-A877-9A3C1738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1930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判断能不能联网、能不能采集、能不能处置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FE6FA-6C0C-4344-84D6-488AE485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38350"/>
            <a:ext cx="323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310A7-2FF2-4AB6-8803-01D65FCB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24000"/>
            <a:ext cx="16954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64AF8-5849-4E5A-869A-612EF1E6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240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F875A-8D19-4837-99CB-55D6C591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764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找历史线索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70217-59EE-4B77-B69D-B24D325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1930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从已有实体关系库和线索池里找相似证据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61B6B6-BC10-484B-BC8F-5CFB6317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323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A2A066-1964-4E93-9DD5-C724C99A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24000"/>
            <a:ext cx="16954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97354-4E8B-4E2E-AB0A-6DF0E182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240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68B348-AE1D-4F88-A60F-E3E45396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764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采集并处理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F4B6D3-7134-49A9-8D46-B92A651F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只对公开或授权来源采集，再清洗、分类、抽取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E5AB58-94A5-471B-BC92-B932EE6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38350"/>
            <a:ext cx="323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B1E7A2-AFDB-4D36-B057-45BC8BB9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24000"/>
            <a:ext cx="16954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AD91A3-673A-4BD0-81B6-22F98E69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240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DDA9AD-A4E1-4A72-9A32-E1DF3AD2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764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输出报告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310485-969F-478F-A042-7852EFB5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1930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给出线索、证据链、作弊剧本和复核建议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80B586-F07F-4126-A228-32F11E3C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两条运行路线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B3BCDA-85B7-487A-B2DF-055724FA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857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E7DEE0-CA6F-42C4-9615-6C3AEF3C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5849AE-2F93-47B6-9AE4-EEB2048C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路线一：已有数据足够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5D7E40-BC0B-45F3-82E1-0E327FF7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4533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直接从历史线索和实体关系库召回，生成报告。适合答辩演示和快速复核，速度快、风险低。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6A99F7-0414-4EAD-9659-48AFD305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4857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CEB952-E578-48BF-9055-C238CF31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99A229-91B1-4837-8B17-0EC1485E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路线二：需要补充新数据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43E3B9-1817-42EA-95D0-51C94CE1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4533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先检查来源是否公开或已授权，再显式打开联网采集，采到的数据继续进入同一条处理流程。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2DAA7F-AC4D-43F0-BA46-6A19003D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28647B-B6C5-4CE0-9E67-9C8DA0D5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代码入口：run_agent_cli.py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C6A9B2-D723-4000-90AA-A33BCD7F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6388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BA2BE2-ED18-44F1-84F4-CC739E94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7150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本机演示：serve_demo_api.py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6F20C5-B2B4-44F7-97BE-A1E2B3A9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388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609E97-49EB-4630-8349-A8FD015C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7150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核心运行类：LocalAgentRuntime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75F241-C80E-4803-9C40-6C6C0DDB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代码名仅作为定位证据保留；答辩时可以按“输入、检查、处理、输出”四步讲。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462AB2-36E9-4CCA-8DF9-B05AEBE3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阶段验收材料</a:t>
            </a:r>
          </a:p>
        </p:txBody>
      </p:sp>
    </p:spTree>
    <p:extLst>
      <p:ext uri="{BB962C8B-B14F-4D97-AF65-F5344CB8AC3E}">
        <p14:creationId xmlns:p14="http://schemas.microsoft.com/office/powerpoint/2010/main" val="2578845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F70636-B806-460D-B1B7-2021C3F0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62B45-4237-4964-8D7D-038C29CD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2159A-CB92-4BCE-A064-0243198E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952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F9C3A-4ADC-49E1-BD41-5F5E196B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47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核心挑战一：来源很多、格式不一、噪声和重复内容多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A72C2-B96E-4A6A-A3C1-63D85EE5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BlackAgent · 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6AE5A-006C-4207-A09E-6CD771ED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810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4262A-3977-426F-BA0C-6BA7F3FE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B8878-CC9B-44BC-B383-992B0DFB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5AF18-41E4-4B8F-9BB0-6BDFE333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A2E95-6C9E-49CA-917A-08BE76AA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4163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CE9F6-B772-4FBD-AC98-F4F06694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原始记录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799D8-3579-42AD-A638-94F970FD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公开且合规来源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2B2B3-45E0-4F04-AF00-00CAC301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2382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0891A-8237-462B-9004-FAA75976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2382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C6323-3481-4DDF-BD65-4132F2A7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40970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3464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C4484-E5C2-4438-85EC-F4E760BD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288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清洗后保留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29CB9-6203-4141-A351-E1CB903F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145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进入分类和抽取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4D006-5A69-473B-BEBD-21686E0D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382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990FE-FA14-4FB8-BD1B-57AA8F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382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F4DC8-37B0-49BB-8553-7B0EF058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0970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699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7061A-7423-48D5-AFE7-5913646D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288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被过滤内容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1AE5A2-7FA2-4622-B862-C74DA3E9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145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重复或低价值噪声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11286-B58B-47D2-9607-F34D2C26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382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00E016-AD09-4CEB-9C81-67BBBEB7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382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427E00-6937-4263-AEC2-89467132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0970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650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AB9029-6A10-41EC-B443-72B1FE5A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288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重复内容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F751C8-511C-4553-B65C-D642DB62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清洗阶段删除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2A3A7-C200-434E-96F5-D259A2F1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当前来源结构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8CE1E6-F800-4C68-8673-66A4BF36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聊天/群组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F71211-925A-4585-A2B0-F7769F60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718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4FE276-C268-4D7D-873D-B9A5E877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718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45546A-5F1C-4DDC-ABB4-7C19EA81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3786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A9B33E-D744-416F-A144-1106C98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社媒/论坛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8D7793-46A8-48F0-9678-80A21ACA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909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4BDB40-9082-4C06-BB86-51EC42EA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90950"/>
            <a:ext cx="34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0AA347-B5E0-40E5-93A8-F8F85F3C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528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356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2D1710-E647-432D-96E9-26CD1ED8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垂直/技术站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293297-F82F-4A0F-93F7-BFA363CD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100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9355F1-EEA6-4A10-9C5B-554E093B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10050"/>
            <a:ext cx="2060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19E867-6F6E-4819-B214-B80A3594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719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150DE4-D068-40C1-A3B6-894D5622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解决办法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112D07-67B7-4443-BFB7-123B1811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24225"/>
            <a:ext cx="19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7DB57B-3A92-48CA-AF13-BBB86845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86125"/>
            <a:ext cx="381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先用“情报来源清单”记录来源类型、授权说明和允许访问的域名。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17934E-0399-45FD-A4AF-4FEB898E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00475"/>
            <a:ext cx="19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6FF9A1-35C1-4D04-AB7E-1F9B9B61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62375"/>
            <a:ext cx="381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采集时带上来源、时间、访问方式等信息，后面能追溯。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77B0F7-6434-4D50-9825-C9C177C8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76725"/>
            <a:ext cx="19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B407F5-91AD-4CA8-AC5F-FD89AAFE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38625"/>
            <a:ext cx="381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清洗时分开统计“原始记录”和“清洗后输入”，避免把两个口径混在一起。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F0D041-DEBC-4DC9-8FE7-CCC821A1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52975"/>
            <a:ext cx="19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48A88A-07E4-461E-AE12-A44A52B7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14875"/>
            <a:ext cx="381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按来源尽量均衡抽样；如果论坛或技术站数量不够，材料里直接暴露这个缺口。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95FE06-DA29-4F75-BB82-32094350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边界：目前数据仍偏聊天群/即时通讯，后续要继续补充非聊天类授权来源。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0040E2-A323-4B10-971A-ABEAE95E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阶段验收材料</a:t>
            </a:r>
          </a:p>
        </p:txBody>
      </p:sp>
    </p:spTree>
    <p:extLst>
      <p:ext uri="{BB962C8B-B14F-4D97-AF65-F5344CB8AC3E}">
        <p14:creationId xmlns:p14="http://schemas.microsoft.com/office/powerpoint/2010/main" val="5766819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A4B93C-CF99-4EE9-99FD-62BAAFA2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0F75E-55A0-4399-B0C4-306A57A5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A01D8-CB0B-4E6E-8C7D-5BABCE0D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952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C1C5F-56B2-4A82-90A8-EC7F4AEB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47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核心挑战二：黑话、谐音、表情和图片文字不容易看懂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86997-78F8-4DE0-8C29-860D5441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BlackAgent · 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DDC26-8B38-4B68-A748-48B4FBE1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810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55E0E-100B-4141-8AF2-1922EBD4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80F21-E4B9-4E12-896A-8F36DEBC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DBFD4-83BC-47E1-9254-EBA34DE1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849EA-6781-4A1C-8EFB-2BA46E73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E3279-E58E-4506-8B8F-3BEE5488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谐音/变体识别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B6D4B-8212-414C-8503-D97333F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例如黑话写法变化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65C06-6A17-4656-9BDD-D7EB8977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2192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015E4-62FD-4B0F-91A0-D60F6ECC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2192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EBDEB-96BB-4C89-8BA2-21777E5C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3906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186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AF676-55A7-4E58-A8AA-DF42220F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表情符号信号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47F33-22B0-4057-803E-E848468B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955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把符号当作风险线索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8BFD3-DB8E-4001-8545-79D4ABBD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192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7751A-21B1-4A64-8082-60223C48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192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D7666A-8E78-43ED-BEBE-1FA7B0FD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906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5D4511-DF75-4C16-98A2-39581940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图片相关文字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9A3BBE-7195-4E34-BE1A-904CD78D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955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保留标题、说明、截图引用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5B5B4-C740-4A23-9863-AA29A771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192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8A3E2-5B96-4DB1-ACAE-8A476411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192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06F505-BF37-484E-ACEB-75FC3BD5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906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0.4314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271C27-FC76-439C-B920-1D279A68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图片文字抽取短板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5D3ECD-9D18-4B8C-B60E-938ED195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955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关键信息抽取仍偏弱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7A12F9-E913-4081-9CEF-20A70C24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处理思路：先把“看不懂的写法”变成可比较的关键信息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C97997-F3B4-43F4-B19E-FAF4F02E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0443C6-67CF-486B-8652-0CE23FDC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F903BA-CC8C-4033-8EC7-E023FC53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671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识别黑话变体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B39AA7-8B29-498F-B55E-15E4CE72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把谐音、缩写、符号映射到统一风险词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2C9FC4-52FC-4A0A-ADEE-81D848C7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3380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6DC021-AD8C-4893-BC11-CD4F5EBE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B87845-0BCC-4093-933B-5B06FD27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771C90-3751-4DAA-8C45-CC158324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671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判断上下文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1CC348-523C-414D-90C8-D4772F1E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1000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区分黑产内容、反诈公告、研究分析和否定语境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911A40-4077-438D-B7D6-5E03DA4C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3380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2DD1A7-A371-4D55-8001-08A7A092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E9AC28-38C3-4ED4-849E-36663AB0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164CD7-019E-47F6-AA27-6D60031D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671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统一关键信息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0903C7-E3DF-419D-914E-D11C47E2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1000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链接、账号、联系方式统一格式并脱敏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149808-0A02-4FEA-98AD-192AFB54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3380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6E1963-A719-43EB-BA56-1B850697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1470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8F5823-126B-4909-9223-67E6B406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1470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5790EA-990D-49F9-BF46-1218F511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671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进入人工复核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EA6D0F-45A8-4B7D-AB6C-513C0A33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1000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不确定或冲突的结果保留复核标记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531A4C-C806-45D1-B0E2-82929EFF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19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017AB8-7AFA-4DA4-A789-76D16ECB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891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图片文字已经作为输入字段保留下来，但当前不把它包装成强生产能力。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925B9E-5D77-4B9E-BD1B-470BEDBD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19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BA23F4-454E-4DB0-AC40-B2FBF45E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05450"/>
            <a:ext cx="891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专项测试显示：图片文字分类还可以，抽账号、链接、联系方式等关键信息仍是明显短板。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32C2E7-E4A8-45D0-93FF-7A9DBE91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图片文字专项测试集已经暴露短板；答辩建议直接讲“图片里的文字识别还需要增强”。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3B28E1-C6C2-4E87-9B73-FAABD834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阶段验收材料</a:t>
            </a:r>
          </a:p>
        </p:txBody>
      </p:sp>
    </p:spTree>
    <p:extLst>
      <p:ext uri="{BB962C8B-B14F-4D97-AF65-F5344CB8AC3E}">
        <p14:creationId xmlns:p14="http://schemas.microsoft.com/office/powerpoint/2010/main" val="15601080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605D1A-4E7A-4ECA-A5FC-5DEDC66F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4C03C-8C98-4F88-86C5-9AF6D4BE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46038-9AEB-47F4-9A95-E737B723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952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F7E3B-2573-4F20-9463-BF8BEB35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47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核心挑战三：效果、成本、速度要平衡，不能每条都调用大模型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EC337-73E7-4E46-B71D-B1E261BE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BlackAgent · 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46865-7882-4791-85D8-50C51346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810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B0E44-AF6C-4D13-80A3-54C88D43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86FE4-ED29-4C14-BB6C-6C61B92E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2886E-F45C-4155-8E91-31EECB73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B3696-2E12-4310-A622-0103F93A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188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55649-A934-441E-92F6-23415736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离线每千条大模型调用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282BA-D69D-4D3C-A205-B629820B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主评测默认规则优先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77950-FA67-48EE-885E-A2D3D626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2382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DFABE-065D-408E-9563-87287B04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2382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544AD-D7F9-4ED8-918C-272135EB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09700"/>
            <a:ext cx="188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+145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D7128-C78D-4DCE-AD18-F12089EE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逐条补充理解的额外调用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7D008-2227-47CF-AF78-D2551109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成本明显增加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212A4-DA44-47E8-9B8E-14AE005B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2382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BB53B4-9407-4ABD-8CAE-9A11DEB0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2382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A6C0F-D5C2-4DDE-A41E-261D4B81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09700"/>
            <a:ext cx="188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0.0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5037D-505E-4148-A105-77A45195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288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已测质量提升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FACD56-2039-4D61-939D-D8B6B22D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145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分类/实体/线索未提升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9C844-2A70-429C-993B-2A959E24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05D784-CB07-4C2F-BF27-340CBC4B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7C2135-CE14-4281-B90F-EAC59AFC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09700"/>
            <a:ext cx="188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2.79秒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A1AF1A-9312-45A5-AFE6-B2AB64D9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快速评测 95% 响应时间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BB092E-E7E2-433C-835E-D71FF27C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145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本机可接受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3A0A73-5BDE-4398-A6AB-B64A3E43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95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305AC5-6C73-4404-8D1B-27CD44C5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99B9A0-C7A6-43A1-A467-7D984689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默认做法：规则先走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C3209C-CD7C-47A5-BE94-4DF6C42B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628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简单查询、常见黑话、常见链接和联系方式先用本地规则处理，稳定、便宜、可复跑。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F1661A-BDB3-4F0C-92EF-70C9E7FC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295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838B59-1264-4158-9B44-712DBED7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F01024-4D27-462A-B441-2715E872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956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需要时才用大模型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0A468B-C753-4898-B900-670151E4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38550"/>
            <a:ext cx="2628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只有复杂查询、联网采集规划、线索整理等高价值环节，才在预算内调用大模型。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CD9F98-8412-4B57-AA2A-CB5EF54D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295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75CDB5-2BDA-44AC-9382-D87414CA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129360-5A38-46C5-A042-A7007CCC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956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不默认逐条“读一遍”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13B024-7860-4576-A5C6-B882B9D1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2628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评测显示逐条补充理解增加调用次数，但没有测到质量收益，所以默认只处理冲突样本。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2219A6-6294-4011-8ED3-41FBD331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19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0CEBF3-0661-4535-B516-6999C73B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910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这样既能保证答辩演示稳定，也能解释为什么不是“所有内容都扔给大模型”。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08ADA3-E2D1-43CB-BA46-377E89AD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证据：运行档位配置、预算控制逻辑、大模型调用价值判断报告和 data/eval/latest_llm_value.json。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A0A61D-44AD-4264-B1D8-02384A9C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阶段验收材料</a:t>
            </a:r>
          </a:p>
        </p:txBody>
      </p:sp>
    </p:spTree>
    <p:extLst>
      <p:ext uri="{BB962C8B-B14F-4D97-AF65-F5344CB8AC3E}">
        <p14:creationId xmlns:p14="http://schemas.microsoft.com/office/powerpoint/2010/main" val="5368142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F7AE39-95F1-4540-A4FE-BCC76D44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0F8A5-2031-4BE9-8AD7-5F43D13F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A3F03-3710-49F9-AF37-9DB3125B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952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A7DE5-73BF-4AC6-856B-EE490562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47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线索质量：不是只数实体，而是能说明“为什么值得查”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C182B-98C0-4383-8707-59957B5C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BlackAgent · 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39EBB-6FA3-4449-BDE1-CF47B6FD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810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44F30-3171-4F15-A3AC-AFDD8518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EE3CC-64B9-420B-A27D-8F1F01B7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FAAC7-85FB-4E1F-8668-4ADB4DDF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71600"/>
            <a:ext cx="1943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线索类型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8B0AC-668B-4DEA-AACF-E248BE67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7160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晋升为重点线索的条件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7639A-73B9-4889-BA31-C7FE8EB4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71600"/>
            <a:ext cx="384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实际价值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37082-9C7B-47AC-B379-C0753222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F89A0-F41E-45A9-B345-95F3F438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同一联系方式反复出现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BE0B5-8883-43FC-8C90-0DAB27EC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48 小时内同一联系方式至少出现 3 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7DE6B-BA04-4949-A0D4-77D14BAF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384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说明多个帖子可能由同一团伙或渠道运营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173E2-ADAD-4A2B-A1AD-B332C6C8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03B62-CFDB-4DC7-B942-AACFA772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同一域名跨来源出现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B844F-4BFC-4D12-B846-F03999CD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同一域名来自至少 2 个不同来源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346A0-ECD3-4833-9CDF-070A6F73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28900"/>
            <a:ext cx="384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比单条帖子更可信，适合优先复核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184BB7-F758-44BE-AF43-22F0EB31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FD961E-4BE2-4E67-BA71-F0FC1E54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同一话术模板重复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A181A-5657-4104-B0EC-4E0B6E8C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去重后同类模板至少出现 3 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EBFE84-B3C2-48B4-9629-E3DC363C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384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识别批量招募、批量推广或批量诈骗话术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F8B783-B963-4F46-BD6B-A6A263BE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输出给人工怎么用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FBBC7-1BAB-4523-A3D8-F23E5E95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4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5FE42E-8BCC-4AA1-8169-462A954C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AE252-6F5D-4389-AD74-DAAE22E9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BE777B-D5FF-4333-8C44-363161B8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列出来源、命中规则、关键信息和上下文片段，方便人工复查。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7926ED-ADDF-47CB-B6EB-69CDC1E1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43400"/>
            <a:ext cx="304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5697AE-DFCD-4E51-974A-34BBD0F8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434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234CB8-FCE4-45A7-9476-1E3B13D1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958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作弊剧本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A4D787-AC11-49B0-BFB6-F20999F1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387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把分散线索整理成“谁、用什么方式、导向哪里”的结构化描述。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698484-D459-4C52-B2B1-2191BF5B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43400"/>
            <a:ext cx="304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3B40D7-B18F-4B14-881C-111EC969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434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C01E0C-BB0B-47D4-933D-E3B1C60F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复核建议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AE8A5B-B949-4735-9375-FA036B4F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387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只给业务人员参考，不自动封禁、不自动写入正式库。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0E8345-B637-4EDB-8212-4867930C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19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C10C51-3886-4EC6-B627-E0E530D1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48350"/>
            <a:ext cx="910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弱线索会归档，不直接推给人工，避免“召回多但人看不过来”。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37E7AF-CAB0-4A44-9801-5F92988C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代码证据：实体关系库、线索晋升逻辑、证据链渲染、对抗建议默认人工复核。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54721F-262C-440B-9A1D-FA078F0C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阶段验收材料</a:t>
            </a:r>
          </a:p>
        </p:txBody>
      </p:sp>
    </p:spTree>
    <p:extLst>
      <p:ext uri="{BB962C8B-B14F-4D97-AF65-F5344CB8AC3E}">
        <p14:creationId xmlns:p14="http://schemas.microsoft.com/office/powerpoint/2010/main" val="20096694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F8683D-C0F7-4DE8-9B83-292B1C69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0FFFA-7F23-4719-AAE2-6E2E6EAF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838C5-BE5F-459C-A688-41DA8C2E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952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C6E13-C457-42C0-BA13-B5C3E7B2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47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质量评测：既讲成绩，也讲不能夸大的边界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CB45D-1AD1-4EFE-862B-71094D26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BlackAgent · 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F2944-1703-45B9-85CB-FECB6AED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810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4724B-72F4-455C-8F7D-FDA4D7F4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F6536-219E-4F12-BC54-969BB46F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9477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545EB-2657-4E7A-A912-2588C42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0C0A9-BA92-4EC7-B30A-373CFA88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5255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969BE-D44C-4098-A45E-D0CF94D0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5255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一级分类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1A3DB-4BD5-4D91-8779-93AFF539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5255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二级分类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0C207-4632-4C78-837C-33995CEC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关键信息抽取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3969A-0098-492B-A245-1CF375AB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5255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线索判断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A22A6-A4EA-487B-BF28-8B0A6E8B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52550"/>
            <a:ext cx="1133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每百条复核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2DB6E-8D76-495E-B597-4D7DE222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9477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C2CB4-F838-415C-A310-90E21757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主评测集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80605-0422-42BD-85AB-3349A8E7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11A85E-4BD0-4464-9FE7-A91DF7BA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050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1.000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60C15C-DEEE-4F4D-A3BF-018EB861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0.9524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28863C-1892-464F-8480-DAB7ACD0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050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0.9655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71604-7A99-4E05-AB96-D1FD60C9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050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1.000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D7B177-734A-414F-85E2-65A02F6E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1133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10.0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48BC87-869C-44DA-90AA-B582965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9477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15C106-9DE5-4134-BD36-E74C7F13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留出测试样本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3856D9-2B3A-4B3C-B926-185DBEB0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574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59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DD7D24-B893-4D6B-8D93-A28C55DA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1.000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D34FB4-EBDC-4305-9BD6-58BA38BB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1.000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0FB881-E137-4DA1-B71F-FD16562D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574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0.9023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B1FF36-F8BD-4E70-9780-95E1DD65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0.000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8CD7B9-10C6-4737-B3C0-66AAEEEA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1133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61.0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F1B3B0-8E3B-4323-B430-0B2F68D2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9477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94589E-CC34-4348-87E9-49837BC6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图片文字专项集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B99521-230E-4B00-9AAC-193023D9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81E71-8910-42B5-AE38-8F00E9D1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0.900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F46308-F8D1-41B2-A31D-5FA582EB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0.7368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AECEC0-B7CA-4B9A-B414-10843418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0.4314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C0E7DE-76CB-4229-90A5-F06D105D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0.000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73207A-31D6-4138-9FA1-B20F7DAB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1133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40.0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2DE2C9-D808-436F-BD26-89D9CDBF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必须主动说明的边界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AA6D82-9D2A-4859-BD4A-BF380E78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19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CCA80A-1747-4741-9E9B-F164D776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986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上表的数字来自本地公开或授权语料，不等同于线上真实生产效果。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052010-B7B8-4E3E-89C4-7B348907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9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3AB5F0-AB24-4D87-9945-832943B8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986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留出测试样本目前是规则生成后待人工确认；人工确认记录数仍为 0。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A5723C-7485-477F-BDC2-70816590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19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5FB432-441C-41B5-9859-24A7A9CD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986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图片文字专项集暴露出短板：分类还能用，但抽链接、账号、联系方式明显不够强。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6B9BA2-95BC-4D2E-9F20-40363385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9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9EE25C-A975-4CA3-8CD4-734ECFE9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986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不真实执行的预演、本机回环试跑、小规模联网试跑，只能证明流程连通和合规边界，不能证明广泛平台覆盖。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23003E-B48E-41FE-8AA9-70699EDF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注：表中的数字为综合准确率指标；答辩时可直接说“综合准确率”。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98AA98-9D62-4FC7-805A-7394E81F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阶段验收材料</a:t>
            </a:r>
          </a:p>
        </p:txBody>
      </p:sp>
    </p:spTree>
    <p:extLst>
      <p:ext uri="{BB962C8B-B14F-4D97-AF65-F5344CB8AC3E}">
        <p14:creationId xmlns:p14="http://schemas.microsoft.com/office/powerpoint/2010/main" val="20424599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0860FE-438E-4B78-A583-A38A7AEE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3CCCF-131F-4F81-94FA-2C9C8689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BCC41-83DD-402A-80A7-325F3542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952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916AE-AE87-413B-AC24-1BBAA6D6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47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安全合规：能演示、能复跑，但不会越权采集或自动处置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E23F3-6CE2-45A9-B1F1-694544EC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BlackAgent · 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D45AD-09F2-49DB-B39F-57D8EFF0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810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CB26C-1AF4-426B-83B3-F10E3B97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97688-45E6-443D-99C9-43B0BCBE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已经落地的控制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4554E-0B80-4291-B452-DB367D2E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08014-A222-414E-98C6-37518191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0CD72-1BDE-465F-AD82-6F2C89D3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默认不联网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EC0F9-506A-43DF-BEF8-D634ADDE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438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配置里默认关闭联网；只有显式打开联网参数，才会访问公开或授权来源。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C37FD-387B-4FC1-9AD4-CECF08C0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6C0D1-9CAD-441E-83F3-ECF5A671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744B5-2197-428C-8A70-5711EADF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来源必须说得清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036DF-7D7C-4B22-A6BB-46095964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4438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采集器要求配置允许访问的域名和合法依据，不能随意扩张到未授权页面。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7C0C7-E634-47A6-96A8-52CE5787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2909E-1C29-453E-A4D6-0A398A42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447E9-7767-4516-A9D6-7A06DDCD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高风险动作会被拦截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FD688-0B40-48F0-A99D-E18CE88A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4438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安全拦截模块会阻断正式写入、个人信息外发、未授权采集扩张和绕过限制。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0F276-A5ED-4F87-9332-EB03624A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573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明确不夸大的边界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82E26-4C4F-41DC-87DA-25E230C9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0225"/>
            <a:ext cx="19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A2ACF0-3CA4-4ECF-B143-A90991C6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62125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当前不是正式对外网页服务，也不是多用户生产系统。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17249D-05E8-4036-A90B-1F5E0AE8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19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8AAE7F-C8F5-4224-9324-D29C391A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14575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本机演示接口只用于答辩展示，默认绑定本机地址。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D6C508-0284-4233-930C-5C2DA51E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19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2BF234-2028-4614-8500-9E418B0E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67025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不宣称覆盖私群、登录后页面、验证码页面或平台规则不明确页面。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2FA69F-EC58-4B28-88BC-EF39AAA2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9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723FFF-37FB-4262-9D0A-E38DF8C5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19475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输出是“给人工复核的建议”，不自动封禁、不自动拉黑、不自动写正式库。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4E81D5-EE5D-4521-949D-DA9D1AF5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证据：默认不联网配置、授权采集器、来源检查模块和安全拦截模块。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7E5B8D-6843-4287-A135-493C5B5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阶段验收材料</a:t>
            </a:r>
          </a:p>
        </p:txBody>
      </p:sp>
    </p:spTree>
    <p:extLst>
      <p:ext uri="{BB962C8B-B14F-4D97-AF65-F5344CB8AC3E}">
        <p14:creationId xmlns:p14="http://schemas.microsoft.com/office/powerpoint/2010/main" val="81150041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4ECDF8-099D-40AF-85B3-A6A9F5B8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04949-4CAC-4613-9781-7D0D5505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6F868-6B09-4D79-97C8-F87088AC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952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6DFA9-01E7-45B6-A51A-1B7D2E4A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47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下一阶段优化：围绕真实缺口补强，而不是为答辩重写系统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C5827-E451-4237-8C55-B4487E12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BlackAgent · 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FED21-710B-4F35-BE3B-038A1FE2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810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116AA-EE89-465E-96FB-27094CA8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31D83-0AF0-433C-ADEA-BA9243EC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FD2A1-E4C0-4A18-AA07-AA0FC25B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31544-7CC5-434A-A3AD-9304572F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970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最先做：人工确认闭环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6E8FC-64C2-4FB7-95D8-43B7D3B3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4438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59 条留出测试样本交给人工确认，补充冲突处理字段，形成真正人工金标。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6C8A6-534E-4111-AC34-9CB20585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573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79F76-2D05-4778-9D93-E8CC406A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57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87F16-EA04-4471-8058-082490F7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0970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最先做：来源结构更均衡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18E06-4C6E-4AC1-8341-754521D9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继续补充论坛、社媒、垂直技术站等授权来源，降低聊天群数据占比过高的问题。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B09F4-0C02-4BF7-9AC8-62AA44FC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67C08-82E2-47AE-8167-3ED0F7FE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3B2CB-BCBD-47F9-84B7-C7F37052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第二步：增强图片文字能力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1C517-8CD4-4670-A763-9C03C3FE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4438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接入更强图片文字识别方案，重点提升链接、账号、联系方式等关键信息抽取。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A0992-28CD-4E37-83BF-86D6E19E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78812-6391-4FD0-95D4-27AC42B7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9DD76-398C-4C08-AAD6-0617A178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655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第二步：降低复核负担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65B5E-C69A-448C-A589-C0DB1B7C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4438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把“待确认”和冲突样本再拆细，优先把最值得看的线索推给人工。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668033-47FE-4869-B850-C3A1D6E9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497469-6EF5-4DD7-B8D2-35FE11B1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346451-7801-45E5-8FCD-90B3ECA7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第三步：本机看板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1E44A4-35B1-4BEB-9250-361F6CB3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4438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把运行报告整理成本机看板，方便答辩和日常复查，但主入口仍保持命令行和本地运行类。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4B9762-008F-4E4A-B86B-72BA2DD3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12697A-8DB2-4D87-BDD9-5DA62BBE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9AEC00-BFA1-48A6-9119-2E3E34EF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4340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总体原则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1D6E5B-1023-4FB6-B4F7-1B709CEB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4438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沿现有采集、清洗、分类、抽取、评测链路小步增强；不突破合规采集和人工复核边界。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349F1D-FA92-4A1D-BD08-C9A00EEB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这些优化项来自当前评测和数据结构暴露出的真实短板。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284C7C-8A78-4FA7-B23E-34985C78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阶段验收材料</a:t>
            </a:r>
          </a:p>
        </p:txBody>
      </p:sp>
    </p:spTree>
    <p:extLst>
      <p:ext uri="{BB962C8B-B14F-4D97-AF65-F5344CB8AC3E}">
        <p14:creationId xmlns:p14="http://schemas.microsoft.com/office/powerpoint/2010/main" val="9187233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A87CA0-E736-4589-A787-2120D385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622B4-92DD-4995-AFBA-EE63D2D2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EFC81-CCB8-418C-B2E2-E6BFE390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952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B746E-3FDC-4A34-83E9-135E1FDF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47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验收结论：阶段目标已达成，核心挑战有解法，边界讲清楚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D6C8C-A80B-4EE9-80DE-CC0E7BC4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BlackAgent · 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08DC3-A450-4EE1-B057-3457E293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810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3B02A-C467-4392-ABF2-D68D2194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C0495-54DE-4D92-AE15-8CEDC941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4953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06693-AF70-4E1E-A9D7-9F68E062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21253-A45F-45AF-A2C2-7B8243DC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097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建议验收口径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6AF3B-8840-44AE-ACDD-6C5DF1B3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629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BlackAgent 已经能按课题要求完成从合规采集、清洗去重、风险分类、关键信息抽取，到线索生成和证据链输出的完整流程；当前适合按“阶段目标达成、边界透明、继续优化”通过阶段验收。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1D72A-BE24-4A88-ABF7-0665D2C0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573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现场演示建议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5924B-6782-4D8A-8FA8-C9C53B4D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19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37289-CFA9-4CF1-B3E2-7D349DFC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53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先跑命令行演示，展示输入到线索输出。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273F9-6098-4FA9-99F6-4B36950F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19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C5B3C-CE44-4873-AE74-150E763E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53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再跑本机演示接口，生成一份可保存的报告。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28A23-3190-453B-BB94-A8ECD0CD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19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1DDFC-DE26-49F0-987B-5082D5AC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453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最后展示 data 目录下的阶段产物和评测报告，主动说明人工确认、图片文字和来源均衡边界。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4DBC1-89BB-47D4-86F4-34778CBD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可复跑命令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25158-6AA2-4C0E-9A43-A8A8F424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0144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71C4D0-C0E4-499F-A67B-B026A219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5E7EB"/>
                </a:solidFill>
                <a:latin typeface="Microsoft YaHei"/>
                <a:ea typeface="Microsoft YaHei"/>
                <a:cs typeface="Microsoft YaHei"/>
              </a:rPr>
              <a:t>python scripts/run_agent_cli.py --demo-sample --show clues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5E7EB"/>
                </a:solidFill>
                <a:latin typeface="Microsoft YaHei"/>
                <a:ea typeface="Microsoft YaHei"/>
                <a:cs typeface="Microsoft YaHei"/>
              </a:rPr>
              <a:t>python scripts/serve_demo_api.py --oneshot-output data/demo_api_report.json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5E7EB"/>
                </a:solidFill>
                <a:latin typeface="Microsoft YaHei"/>
                <a:ea typeface="Microsoft YaHei"/>
                <a:cs typeface="Microsoft YaHei"/>
              </a:rPr>
              <a:t>python -m pytest -q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9C535-0595-4E3C-8A09-1797AC53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结论：建议通过阶段验收，并进入人工确认、图片文字增强和来源均衡优化。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D6267-55F0-45EF-B614-71D70E2E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阶段验收材料</a:t>
            </a:r>
          </a:p>
        </p:txBody>
      </p:sp>
    </p:spTree>
    <p:extLst>
      <p:ext uri="{BB962C8B-B14F-4D97-AF65-F5344CB8AC3E}">
        <p14:creationId xmlns:p14="http://schemas.microsoft.com/office/powerpoint/2010/main" val="1539686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2026-06-05T05:00:40.0480000Z</dcterms:created>
  <dcterms:modified xsi:type="dcterms:W3CDTF">2026-06-05T05:00:40.0480000Z</dcterms:modified>
</coreProperties>
</file>